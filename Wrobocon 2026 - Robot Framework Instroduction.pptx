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00B6"/>
    <a:srgbClr val="5FF1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F9D597-C437-4A55-A91A-9C5844D191F0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0193F6-174E-4FCB-ADBD-79CB60ED4A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9474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60b14fccb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e60b14fccb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60b14fccb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e60b14fccb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60b14fccb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e60b14fccb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60b14fccb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60b14fccb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60b14fccb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e60b14fccb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60b14fccb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60b14fccb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60b14fccb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60b14fccb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60b14fccb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e60b14fccb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EF270D21-CBEC-88F3-D1C4-7564A8FC8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60b14fccb_0_74:notes">
            <a:extLst>
              <a:ext uri="{FF2B5EF4-FFF2-40B4-BE49-F238E27FC236}">
                <a16:creationId xmlns:a16="http://schemas.microsoft.com/office/drawing/2014/main" id="{8FBC5AC6-E537-FDA3-7954-52A56AA83F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60b14fccb_0_74:notes">
            <a:extLst>
              <a:ext uri="{FF2B5EF4-FFF2-40B4-BE49-F238E27FC236}">
                <a16:creationId xmlns:a16="http://schemas.microsoft.com/office/drawing/2014/main" id="{F0D3EC74-7075-698C-A7B0-AE11255780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94544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E2B6CB4C-A709-E932-D8F0-2DBBACF44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60b14fccb_0_74:notes">
            <a:extLst>
              <a:ext uri="{FF2B5EF4-FFF2-40B4-BE49-F238E27FC236}">
                <a16:creationId xmlns:a16="http://schemas.microsoft.com/office/drawing/2014/main" id="{18793BA1-6C60-6DA8-13F5-7D660F09CE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60b14fccb_0_74:notes">
            <a:extLst>
              <a:ext uri="{FF2B5EF4-FFF2-40B4-BE49-F238E27FC236}">
                <a16:creationId xmlns:a16="http://schemas.microsoft.com/office/drawing/2014/main" id="{DC9B954A-DF79-C5D8-BB82-BF41EB6C67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31451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5CD78F8D-3160-097A-DD19-000381366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60b14fccb_0_74:notes">
            <a:extLst>
              <a:ext uri="{FF2B5EF4-FFF2-40B4-BE49-F238E27FC236}">
                <a16:creationId xmlns:a16="http://schemas.microsoft.com/office/drawing/2014/main" id="{20404E11-DD6B-05E9-AD6D-97E1CB204F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60b14fccb_0_74:notes">
            <a:extLst>
              <a:ext uri="{FF2B5EF4-FFF2-40B4-BE49-F238E27FC236}">
                <a16:creationId xmlns:a16="http://schemas.microsoft.com/office/drawing/2014/main" id="{AD139B95-C10A-B554-4D17-D31F6383E5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94801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F85E7BBF-310A-2F23-ACBF-7E7652881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60b14fccb_0_74:notes">
            <a:extLst>
              <a:ext uri="{FF2B5EF4-FFF2-40B4-BE49-F238E27FC236}">
                <a16:creationId xmlns:a16="http://schemas.microsoft.com/office/drawing/2014/main" id="{207FC751-465E-1A36-7508-7D366A2234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60b14fccb_0_74:notes">
            <a:extLst>
              <a:ext uri="{FF2B5EF4-FFF2-40B4-BE49-F238E27FC236}">
                <a16:creationId xmlns:a16="http://schemas.microsoft.com/office/drawing/2014/main" id="{3CC5D90A-456F-E2EB-1F91-33BD287C0D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02150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4B88444D-E52B-756D-8305-1C14A2B46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60b14fccb_0_74:notes">
            <a:extLst>
              <a:ext uri="{FF2B5EF4-FFF2-40B4-BE49-F238E27FC236}">
                <a16:creationId xmlns:a16="http://schemas.microsoft.com/office/drawing/2014/main" id="{3FA65800-2743-D8E3-2CDC-6BFB8CAAF0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60b14fccb_0_74:notes">
            <a:extLst>
              <a:ext uri="{FF2B5EF4-FFF2-40B4-BE49-F238E27FC236}">
                <a16:creationId xmlns:a16="http://schemas.microsoft.com/office/drawing/2014/main" id="{17D7001B-B76A-1A4F-9E10-87A836C425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042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D95B5807-8588-E158-2ABF-5662FD3B1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60b14fccb_0_74:notes">
            <a:extLst>
              <a:ext uri="{FF2B5EF4-FFF2-40B4-BE49-F238E27FC236}">
                <a16:creationId xmlns:a16="http://schemas.microsoft.com/office/drawing/2014/main" id="{9C843EA8-4F06-B019-9A25-0E1E2A247C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60b14fccb_0_74:notes">
            <a:extLst>
              <a:ext uri="{FF2B5EF4-FFF2-40B4-BE49-F238E27FC236}">
                <a16:creationId xmlns:a16="http://schemas.microsoft.com/office/drawing/2014/main" id="{9D3EA71A-D68A-4C08-697B-4ED731FD6D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14770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66A657A5-E714-3554-3F83-8DC94D68D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60b14fccb_0_74:notes">
            <a:extLst>
              <a:ext uri="{FF2B5EF4-FFF2-40B4-BE49-F238E27FC236}">
                <a16:creationId xmlns:a16="http://schemas.microsoft.com/office/drawing/2014/main" id="{4D951470-1717-B772-B64B-25DDEE03CF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60b14fccb_0_74:notes">
            <a:extLst>
              <a:ext uri="{FF2B5EF4-FFF2-40B4-BE49-F238E27FC236}">
                <a16:creationId xmlns:a16="http://schemas.microsoft.com/office/drawing/2014/main" id="{A9992AB0-60BF-1736-7EB9-FA87275AF5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07701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A7D47BCD-7D1B-32A0-C3CB-462445191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60b14fccb_0_74:notes">
            <a:extLst>
              <a:ext uri="{FF2B5EF4-FFF2-40B4-BE49-F238E27FC236}">
                <a16:creationId xmlns:a16="http://schemas.microsoft.com/office/drawing/2014/main" id="{FE2ED99B-BC0E-61E6-AF24-A3F26543A8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60b14fccb_0_74:notes">
            <a:extLst>
              <a:ext uri="{FF2B5EF4-FFF2-40B4-BE49-F238E27FC236}">
                <a16:creationId xmlns:a16="http://schemas.microsoft.com/office/drawing/2014/main" id="{85F97CD1-973E-7EAA-382A-9D5337AEAE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66409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18FD5FD8-AD40-FFD2-62E2-AF483B71F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60b14fccb_0_61:notes">
            <a:extLst>
              <a:ext uri="{FF2B5EF4-FFF2-40B4-BE49-F238E27FC236}">
                <a16:creationId xmlns:a16="http://schemas.microsoft.com/office/drawing/2014/main" id="{2F6A70BE-E94A-68E5-4F63-50265CED80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e60b14fccb_0_61:notes">
            <a:extLst>
              <a:ext uri="{FF2B5EF4-FFF2-40B4-BE49-F238E27FC236}">
                <a16:creationId xmlns:a16="http://schemas.microsoft.com/office/drawing/2014/main" id="{FB079C2C-1A2D-30FE-4F09-AD3985E97E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29694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6006F03C-6CA7-909C-9365-54120B7A9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60b14fccb_0_61:notes">
            <a:extLst>
              <a:ext uri="{FF2B5EF4-FFF2-40B4-BE49-F238E27FC236}">
                <a16:creationId xmlns:a16="http://schemas.microsoft.com/office/drawing/2014/main" id="{7C8BDBE2-80E3-647D-90DB-745CE645D0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e60b14fccb_0_61:notes">
            <a:extLst>
              <a:ext uri="{FF2B5EF4-FFF2-40B4-BE49-F238E27FC236}">
                <a16:creationId xmlns:a16="http://schemas.microsoft.com/office/drawing/2014/main" id="{78F83E9B-4B1A-53A7-C1DC-9C208270BD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03512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4963A-FD67-210F-682F-E3319DA1A0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A75BED-F510-338F-13E1-A711C1DD47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3239E-8C01-1237-93AE-F2722F757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10DD-3EAB-4732-8672-792BCF2A04AC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35D14-628E-73A9-35B8-4DCD8971D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1F23F-5EC7-9B2D-6512-3619F1024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021B4-A804-4D4D-9C84-E75FDB52F2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0538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AC749-906F-4806-DE2C-A707F7EF8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CBF63-9D77-AD04-7DDD-2F2510723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E5D17-C7D2-2A79-A18A-9BC110F07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10DD-3EAB-4732-8672-792BCF2A04AC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D27CA6-CEFD-66A4-CAA8-208BF24A8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6BBE6-AA38-FB05-FDC5-0EC8B59B8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021B4-A804-4D4D-9C84-E75FDB52F2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0024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63077-1532-F326-109C-81F60378D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96E406-6739-EBA8-48AE-19A86B213A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95D061-1D7C-68E9-C6A2-CC4E4BBB4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10DD-3EAB-4732-8672-792BCF2A04AC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29F10-0998-7964-E172-C4BF4BC83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D413E0-744C-7903-814D-168D9E6DF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021B4-A804-4D4D-9C84-E75FDB52F2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2427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115BD-716C-6EE0-F2E4-5F56B5E2F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7CA73-D183-2359-6EA9-F563C42BD4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756731-70B3-DA01-CF98-319BCD2E0C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1D656F-DB08-6CEA-807A-00DE678A7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10DD-3EAB-4732-8672-792BCF2A04AC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C75029-1E0D-7435-067B-C7ABC790F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8485D5-82CD-51B9-3D30-2E8499D62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021B4-A804-4D4D-9C84-E75FDB52F2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5510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330C5-5CA4-5521-1D3E-A419554D7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E443AF-B5C9-205F-AD07-C6B23B56CE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025489-7A5C-54EA-24F4-64B407EA73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3E2F1E-D81E-59AA-AA4D-06B58BB5D4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E244FD-E3A9-7A19-0701-5267C140BC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1CE98E-B62B-7E12-4A6D-4E954ECE2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10DD-3EAB-4732-8672-792BCF2A04AC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792FC2-B165-C711-972F-D9DCCE605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87D773-5166-FCD3-8F78-4AC06A5F8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021B4-A804-4D4D-9C84-E75FDB52F2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0397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0BA75-E689-E34A-FA81-F758679D0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BE9C79-CBCD-BD65-E485-60C627587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10DD-3EAB-4732-8672-792BCF2A04AC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3063F7-DDB0-FF95-954D-8DB6E6FDA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0C5A05-3C96-23B7-F5E7-C2D0F6E8B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021B4-A804-4D4D-9C84-E75FDB52F2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6876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D3C9F1-4AB9-DE92-B4A8-4AA724918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10DD-3EAB-4732-8672-792BCF2A04AC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34EE64-3C70-A846-A516-9A8EAC126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B08E4A-E997-B08F-654A-FE1A036EC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021B4-A804-4D4D-9C84-E75FDB52F2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7161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F10DC-1630-0B10-EF4F-5AF09F2ED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6E278-8463-8D79-E197-304ADC0888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700273-88AF-89C1-A7A7-D9E777349C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BFD4D6-0F77-FAE4-79C5-880B8E3FE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10DD-3EAB-4732-8672-792BCF2A04AC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944EF5-1EAC-21E6-8D84-64CB29CEA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A6E58A-10F2-3750-2590-43F39703B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021B4-A804-4D4D-9C84-E75FDB52F2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2163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969B6-EB05-484D-D758-6B7A4B0C7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963FC2-F3CD-6A32-E130-78E848BABE0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42A6B3-C28D-3276-E757-9766D4F4A6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77969D-D381-1823-1110-FE9CBA0AA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10DD-3EAB-4732-8672-792BCF2A04AC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24A267-34F8-D57E-EF3A-B38B76458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9A43D-7AB2-268C-0F8B-B35F65DB5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021B4-A804-4D4D-9C84-E75FDB52F2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3399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4D6E1-6428-A172-8C1D-8C9EF361E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FCDEC9-CBBB-2CF5-DA6A-7B84E4B5A2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E23B23-B204-862B-4B66-A261FE06D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10DD-3EAB-4732-8672-792BCF2A04AC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F5308B-0782-E391-D019-3C19C8F15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44669-A9D0-BB63-236D-3AE89B8FC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021B4-A804-4D4D-9C84-E75FDB52F2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687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096394-29DB-EC31-AB4B-AF1F984DBF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F1A727-D699-2A32-B6A2-0C48175EC9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384868-5482-3A64-E313-B4BF0CB1F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10DD-3EAB-4732-8672-792BCF2A04AC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37F4B-AA6D-E9A9-74BA-9B95BCD73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2C728-30AA-E6A0-37AA-0A2EED223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021B4-A804-4D4D-9C84-E75FDB52F2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0139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039166-09BE-EDC3-5891-D0E24AE82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54E95-89D8-62C9-C365-FE391DBCBB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8C384-8296-0F71-7D64-FDC330C754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D010DD-3EAB-4732-8672-792BCF2A04AC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3C3F6E-0C6D-AEE5-6C40-BD3EBD3966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3C444-6748-2561-B3BF-34690459A3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9021B4-A804-4D4D-9C84-E75FDB52F2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1234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/>
          <p:nvPr/>
        </p:nvSpPr>
        <p:spPr>
          <a:xfrm>
            <a:off x="661492" y="2255838"/>
            <a:ext cx="8177750" cy="7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4786"/>
              </a:lnSpc>
              <a:buClr>
                <a:srgbClr val="1E00B6"/>
              </a:buClr>
              <a:buSzPts val="5850"/>
            </a:pPr>
            <a:r>
              <a:rPr lang="pl" sz="4875" b="1" dirty="0">
                <a:solidFill>
                  <a:srgbClr val="1E00B6"/>
                </a:solidFill>
                <a:latin typeface="Roboto Mono"/>
                <a:ea typeface="Roboto Mono"/>
                <a:cs typeface="Roboto Mono"/>
                <a:sym typeface="Roboto Mono"/>
              </a:rPr>
              <a:t>ROBOT FRAMEWORK</a:t>
            </a:r>
          </a:p>
        </p:txBody>
      </p:sp>
      <p:sp>
        <p:nvSpPr>
          <p:cNvPr id="97" name="Google Shape;97;p17"/>
          <p:cNvSpPr/>
          <p:nvPr/>
        </p:nvSpPr>
        <p:spPr>
          <a:xfrm>
            <a:off x="661492" y="3192411"/>
            <a:ext cx="6432366" cy="499955"/>
          </a:xfrm>
          <a:prstGeom prst="roundRect">
            <a:avLst>
              <a:gd name="adj" fmla="val 2071"/>
            </a:avLst>
          </a:prstGeom>
          <a:noFill/>
          <a:ln w="9525" cap="flat" cmpd="sng">
            <a:solidFill>
              <a:srgbClr val="1E00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188" tIns="76188" rIns="76188" bIns="76188" anchor="ctr" anchorCtr="0">
            <a:noAutofit/>
          </a:bodyPr>
          <a:lstStyle/>
          <a:p>
            <a:endParaRPr sz="1500"/>
          </a:p>
        </p:txBody>
      </p:sp>
      <p:sp>
        <p:nvSpPr>
          <p:cNvPr id="98" name="Google Shape;98;p17"/>
          <p:cNvSpPr/>
          <p:nvPr/>
        </p:nvSpPr>
        <p:spPr>
          <a:xfrm>
            <a:off x="781249" y="3290891"/>
            <a:ext cx="6212823" cy="2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0714"/>
              </a:lnSpc>
              <a:buClr>
                <a:srgbClr val="1E00B6"/>
              </a:buClr>
              <a:buSzPts val="1400"/>
            </a:pPr>
            <a:r>
              <a:rPr lang="pl" sz="1167" dirty="0">
                <a:solidFill>
                  <a:srgbClr val="1E00B6"/>
                </a:solidFill>
                <a:latin typeface="Inter"/>
                <a:ea typeface="Inter"/>
                <a:cs typeface="Inter"/>
                <a:sym typeface="Inter"/>
              </a:rPr>
              <a:t>INTRODUCTION TUTORIAL</a:t>
            </a:r>
            <a:endParaRPr sz="1167" dirty="0"/>
          </a:p>
        </p:txBody>
      </p:sp>
      <p:sp>
        <p:nvSpPr>
          <p:cNvPr id="99" name="Google Shape;99;p17"/>
          <p:cNvSpPr/>
          <p:nvPr/>
        </p:nvSpPr>
        <p:spPr>
          <a:xfrm>
            <a:off x="781248" y="3911612"/>
            <a:ext cx="10869000" cy="3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2857"/>
              </a:lnSpc>
              <a:buClr>
                <a:srgbClr val="1C1C18"/>
              </a:buClr>
              <a:buSzPts val="1750"/>
            </a:pPr>
            <a:r>
              <a:rPr lang="pl" sz="1458" b="1" dirty="0">
                <a:solidFill>
                  <a:srgbClr val="1C1C18"/>
                </a:solidFill>
                <a:latin typeface="Inter"/>
                <a:ea typeface="Inter"/>
                <a:cs typeface="Inter"/>
                <a:sym typeface="Inter"/>
              </a:rPr>
              <a:t>Igor Czyrski</a:t>
            </a:r>
            <a:endParaRPr sz="1458" dirty="0"/>
          </a:p>
        </p:txBody>
      </p:sp>
      <p:sp>
        <p:nvSpPr>
          <p:cNvPr id="100" name="Google Shape;100;p17"/>
          <p:cNvSpPr/>
          <p:nvPr/>
        </p:nvSpPr>
        <p:spPr>
          <a:xfrm>
            <a:off x="781248" y="4383681"/>
            <a:ext cx="10869000" cy="3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2857"/>
              </a:lnSpc>
              <a:buClr>
                <a:srgbClr val="8A8A85"/>
              </a:buClr>
              <a:buSzPts val="1750"/>
            </a:pPr>
            <a:r>
              <a:rPr lang="pl-PL" sz="1458" dirty="0"/>
              <a:t>QA Specialist – Nice Project</a:t>
            </a:r>
            <a:endParaRPr sz="1458" dirty="0"/>
          </a:p>
        </p:txBody>
      </p:sp>
      <p:sp>
        <p:nvSpPr>
          <p:cNvPr id="101" name="Google Shape;101;p17"/>
          <p:cNvSpPr/>
          <p:nvPr/>
        </p:nvSpPr>
        <p:spPr>
          <a:xfrm>
            <a:off x="661492" y="4971554"/>
            <a:ext cx="10869000" cy="14000"/>
          </a:xfrm>
          <a:prstGeom prst="rect">
            <a:avLst/>
          </a:prstGeom>
          <a:solidFill>
            <a:srgbClr val="1C1C18">
              <a:alpha val="50200"/>
            </a:srgbClr>
          </a:solidFill>
          <a:ln>
            <a:noFill/>
          </a:ln>
        </p:spPr>
        <p:txBody>
          <a:bodyPr spcFirstLastPara="1" wrap="square" lIns="76188" tIns="76188" rIns="76188" bIns="76188" anchor="ctr" anchorCtr="0">
            <a:noAutofit/>
          </a:bodyPr>
          <a:lstStyle/>
          <a:p>
            <a:endParaRPr sz="1500"/>
          </a:p>
        </p:txBody>
      </p:sp>
      <p:sp>
        <p:nvSpPr>
          <p:cNvPr id="102" name="Google Shape;102;p17"/>
          <p:cNvSpPr/>
          <p:nvPr/>
        </p:nvSpPr>
        <p:spPr>
          <a:xfrm>
            <a:off x="719521" y="1851764"/>
            <a:ext cx="1287750" cy="2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0714"/>
              </a:lnSpc>
              <a:buClr>
                <a:srgbClr val="1E00B6"/>
              </a:buClr>
              <a:buSzPts val="1400"/>
            </a:pPr>
            <a:r>
              <a:rPr lang="pl" sz="1500" dirty="0">
                <a:solidFill>
                  <a:srgbClr val="1E00B6"/>
                </a:solidFill>
                <a:highlight>
                  <a:srgbClr val="5FF15D"/>
                </a:highlight>
                <a:latin typeface="Inter"/>
                <a:ea typeface="Inter"/>
                <a:cs typeface="Inter"/>
                <a:sym typeface="Inter"/>
              </a:rPr>
              <a:t>TITLE SLIDE</a:t>
            </a:r>
            <a:endParaRPr sz="1500" dirty="0">
              <a:solidFill>
                <a:schemeClr val="dk1"/>
              </a:solidFill>
              <a:highlight>
                <a:srgbClr val="5FF15D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/>
          <p:nvPr/>
        </p:nvSpPr>
        <p:spPr>
          <a:xfrm>
            <a:off x="640854" y="1810278"/>
            <a:ext cx="10869000" cy="17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just"/>
            <a:r>
              <a:rPr lang="en-US" sz="3333" dirty="0">
                <a:solidFill>
                  <a:srgbClr val="8A8A85"/>
                </a:solidFill>
                <a:latin typeface="Inter" panose="020B0604020202020204" charset="0"/>
                <a:ea typeface="Inter" panose="020B0604020202020204" charset="0"/>
              </a:rPr>
              <a:t>Whether you identify as a tester, developer, or quality assurance professional, </a:t>
            </a:r>
            <a:r>
              <a:rPr lang="pl-PL" sz="3333" dirty="0">
                <a:solidFill>
                  <a:srgbClr val="8A8A85"/>
                </a:solidFill>
                <a:latin typeface="Inter" panose="020B0604020202020204" charset="0"/>
                <a:ea typeface="Inter" panose="020B0604020202020204" charset="0"/>
              </a:rPr>
              <a:t>my</a:t>
            </a:r>
            <a:r>
              <a:rPr lang="en-US" sz="3333" dirty="0">
                <a:solidFill>
                  <a:srgbClr val="8A8A85"/>
                </a:solidFill>
                <a:latin typeface="Inter" panose="020B0604020202020204" charset="0"/>
                <a:ea typeface="Inter" panose="020B0604020202020204" charset="0"/>
              </a:rPr>
              <a:t> mission is to ensure you depart with a robust foundation in creating and managing test suites, adeptly handling test data, and seamlessly integrating Robot Framework into your projects</a:t>
            </a:r>
            <a:endParaRPr lang="de-DE" sz="3333" dirty="0">
              <a:solidFill>
                <a:srgbClr val="8A8A85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09" name="Google Shape;109;p18"/>
          <p:cNvSpPr/>
          <p:nvPr/>
        </p:nvSpPr>
        <p:spPr>
          <a:xfrm>
            <a:off x="640854" y="5761732"/>
            <a:ext cx="10910250" cy="13750"/>
          </a:xfrm>
          <a:prstGeom prst="rect">
            <a:avLst/>
          </a:prstGeom>
          <a:solidFill>
            <a:srgbClr val="1C1C18">
              <a:alpha val="50200"/>
            </a:srgbClr>
          </a:solidFill>
          <a:ln>
            <a:noFill/>
          </a:ln>
        </p:spPr>
        <p:txBody>
          <a:bodyPr spcFirstLastPara="1" wrap="square" lIns="76188" tIns="76188" rIns="76188" bIns="76188" anchor="ctr" anchorCtr="0">
            <a:noAutofit/>
          </a:bodyPr>
          <a:lstStyle/>
          <a:p>
            <a:endParaRPr sz="1500"/>
          </a:p>
        </p:txBody>
      </p:sp>
      <p:sp>
        <p:nvSpPr>
          <p:cNvPr id="110" name="Google Shape;110;p18"/>
          <p:cNvSpPr/>
          <p:nvPr/>
        </p:nvSpPr>
        <p:spPr>
          <a:xfrm>
            <a:off x="640854" y="6020693"/>
            <a:ext cx="10910250" cy="2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8823"/>
              </a:lnSpc>
              <a:buClr>
                <a:srgbClr val="8A8A85"/>
              </a:buClr>
              <a:buSzPts val="1700"/>
            </a:pPr>
            <a:r>
              <a:rPr lang="pl" sz="1417" dirty="0">
                <a:solidFill>
                  <a:srgbClr val="8A8A85"/>
                </a:solidFill>
                <a:latin typeface="Inter"/>
                <a:ea typeface="Inter"/>
                <a:cs typeface="Inter"/>
                <a:sym typeface="Inter"/>
              </a:rPr>
              <a:t>Igor Czyrski – Nice Project</a:t>
            </a:r>
            <a:endParaRPr sz="141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/>
          <p:nvPr/>
        </p:nvSpPr>
        <p:spPr>
          <a:xfrm>
            <a:off x="661479" y="1745635"/>
            <a:ext cx="10869000" cy="17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39" indent="-285739" algn="just">
              <a:spcBef>
                <a:spcPts val="600"/>
              </a:spcBef>
              <a:spcAft>
                <a:spcPts val="600"/>
              </a:spcAft>
              <a:buClr>
                <a:srgbClr val="1C1C18"/>
              </a:buClr>
              <a:buSzPts val="1750"/>
              <a:buFont typeface="Inter"/>
              <a:buChar char="•"/>
            </a:pPr>
            <a:r>
              <a:rPr lang="pl-PL" sz="1600" dirty="0"/>
              <a:t>Introduction to Robot Framework</a:t>
            </a:r>
          </a:p>
          <a:p>
            <a:pPr marL="285739" indent="-285739" algn="just">
              <a:spcBef>
                <a:spcPts val="600"/>
              </a:spcBef>
              <a:spcAft>
                <a:spcPts val="600"/>
              </a:spcAft>
              <a:buClr>
                <a:srgbClr val="1C1C18"/>
              </a:buClr>
              <a:buSzPts val="1750"/>
              <a:buFont typeface="Inter"/>
              <a:buChar char="•"/>
            </a:pPr>
            <a:r>
              <a:rPr lang="pl-PL" sz="1600" dirty="0"/>
              <a:t>Installation and setup</a:t>
            </a:r>
          </a:p>
          <a:p>
            <a:pPr marL="285739" indent="-285739" algn="just">
              <a:spcBef>
                <a:spcPts val="600"/>
              </a:spcBef>
              <a:spcAft>
                <a:spcPts val="600"/>
              </a:spcAft>
              <a:buClr>
                <a:srgbClr val="1C1C18"/>
              </a:buClr>
              <a:buSzPts val="1750"/>
              <a:buFont typeface="Inter"/>
              <a:buChar char="•"/>
            </a:pPr>
            <a:r>
              <a:rPr lang="pl-PL" sz="1600" dirty="0"/>
              <a:t>Structure of code and repository</a:t>
            </a:r>
          </a:p>
          <a:p>
            <a:pPr marL="285739" indent="-285739" algn="just">
              <a:spcBef>
                <a:spcPts val="600"/>
              </a:spcBef>
              <a:spcAft>
                <a:spcPts val="600"/>
              </a:spcAft>
              <a:buClr>
                <a:srgbClr val="1C1C18"/>
              </a:buClr>
              <a:buSzPts val="1750"/>
              <a:buFont typeface="Inter"/>
              <a:buChar char="•"/>
            </a:pPr>
            <a:r>
              <a:rPr lang="pl-PL" sz="1600" dirty="0"/>
              <a:t>Launching the tests</a:t>
            </a:r>
          </a:p>
          <a:p>
            <a:pPr marL="285739" indent="-285739" algn="just">
              <a:spcBef>
                <a:spcPts val="600"/>
              </a:spcBef>
              <a:spcAft>
                <a:spcPts val="600"/>
              </a:spcAft>
              <a:buClr>
                <a:srgbClr val="1C1C18"/>
              </a:buClr>
              <a:buSzPts val="1750"/>
              <a:buFont typeface="Inter"/>
              <a:buChar char="•"/>
            </a:pPr>
            <a:r>
              <a:rPr lang="pl-PL" sz="1600" dirty="0"/>
              <a:t>Test cases &amp; keywords</a:t>
            </a:r>
          </a:p>
          <a:p>
            <a:pPr marL="285739" indent="-285739">
              <a:spcBef>
                <a:spcPts val="600"/>
              </a:spcBef>
              <a:spcAft>
                <a:spcPts val="600"/>
              </a:spcAft>
              <a:buClr>
                <a:srgbClr val="1C1C18"/>
              </a:buClr>
              <a:buSzPts val="1750"/>
              <a:buFont typeface="Inter"/>
              <a:buChar char="•"/>
            </a:pPr>
            <a:r>
              <a:rPr lang="pl-PL" sz="1600" dirty="0"/>
              <a:t>Variables</a:t>
            </a:r>
          </a:p>
          <a:p>
            <a:pPr marL="285739" indent="-285739">
              <a:spcBef>
                <a:spcPts val="600"/>
              </a:spcBef>
              <a:spcAft>
                <a:spcPts val="600"/>
              </a:spcAft>
              <a:buClr>
                <a:srgbClr val="1C1C18"/>
              </a:buClr>
              <a:buSzPts val="1750"/>
              <a:buFont typeface="Inter"/>
              <a:buChar char="•"/>
            </a:pPr>
            <a:r>
              <a:rPr lang="pl-PL" sz="1600" dirty="0"/>
              <a:t>Using arguments</a:t>
            </a:r>
          </a:p>
          <a:p>
            <a:pPr marL="285739" indent="-285739">
              <a:spcBef>
                <a:spcPts val="600"/>
              </a:spcBef>
              <a:spcAft>
                <a:spcPts val="600"/>
              </a:spcAft>
              <a:buClr>
                <a:srgbClr val="1C1C18"/>
              </a:buClr>
              <a:buSzPts val="1750"/>
              <a:buFont typeface="Inter"/>
              <a:buChar char="•"/>
            </a:pPr>
            <a:r>
              <a:rPr lang="pl-PL" sz="1600" dirty="0"/>
              <a:t>Variable and resource files</a:t>
            </a:r>
          </a:p>
          <a:p>
            <a:pPr marL="285739" indent="-285739">
              <a:spcBef>
                <a:spcPts val="600"/>
              </a:spcBef>
              <a:spcAft>
                <a:spcPts val="600"/>
              </a:spcAft>
              <a:buClr>
                <a:srgbClr val="1C1C18"/>
              </a:buClr>
              <a:buSzPts val="1750"/>
              <a:buFont typeface="Inter"/>
              <a:buChar char="•"/>
            </a:pPr>
            <a:r>
              <a:rPr lang="pl-PL" sz="1600" dirty="0"/>
              <a:t>Control structures</a:t>
            </a:r>
            <a:endParaRPr lang="en-US" sz="1600" dirty="0"/>
          </a:p>
          <a:p>
            <a:pPr marL="285739" indent="-285739" algn="just">
              <a:spcBef>
                <a:spcPts val="600"/>
              </a:spcBef>
              <a:spcAft>
                <a:spcPts val="600"/>
              </a:spcAft>
              <a:buClr>
                <a:srgbClr val="1C1C18"/>
              </a:buClr>
              <a:buSzPts val="1750"/>
              <a:buFont typeface="Inter"/>
              <a:buChar char="•"/>
            </a:pPr>
            <a:endParaRPr lang="pl-PL" sz="1600" dirty="0"/>
          </a:p>
          <a:p>
            <a:pPr lvl="0" algn="just">
              <a:spcBef>
                <a:spcPts val="600"/>
              </a:spcBef>
              <a:spcAft>
                <a:spcPts val="600"/>
              </a:spcAft>
              <a:buClr>
                <a:srgbClr val="BF71FF"/>
              </a:buClr>
              <a:buSzPct val="75000"/>
            </a:pPr>
            <a:endParaRPr lang="pl-PL" sz="1600" dirty="0"/>
          </a:p>
          <a:p>
            <a:pPr marL="285739" indent="-285739" algn="just">
              <a:spcBef>
                <a:spcPts val="600"/>
              </a:spcBef>
              <a:spcAft>
                <a:spcPts val="600"/>
              </a:spcAft>
              <a:buClr>
                <a:srgbClr val="1C1C18"/>
              </a:buClr>
              <a:buSzPts val="1750"/>
              <a:buFont typeface="Inter"/>
              <a:buChar char="•"/>
            </a:pPr>
            <a:endParaRPr lang="de-DE" sz="1600" dirty="0"/>
          </a:p>
          <a:p>
            <a:pPr marL="285739" indent="-285739">
              <a:buClr>
                <a:srgbClr val="1C1C18"/>
              </a:buClr>
              <a:buSzPts val="1750"/>
              <a:buFont typeface="Inter"/>
              <a:buChar char="•"/>
            </a:pPr>
            <a:endParaRPr lang="en-GB" sz="1600" dirty="0"/>
          </a:p>
        </p:txBody>
      </p:sp>
      <p:sp>
        <p:nvSpPr>
          <p:cNvPr id="108" name="Google Shape;108;p18"/>
          <p:cNvSpPr/>
          <p:nvPr/>
        </p:nvSpPr>
        <p:spPr>
          <a:xfrm>
            <a:off x="640854" y="956924"/>
            <a:ext cx="4349000" cy="5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4390"/>
              </a:lnSpc>
              <a:buClr>
                <a:srgbClr val="1E00B6"/>
              </a:buClr>
              <a:buSzPts val="4100"/>
            </a:pPr>
            <a:r>
              <a:rPr lang="pl" sz="3417" b="1" dirty="0">
                <a:solidFill>
                  <a:srgbClr val="1E00B6"/>
                </a:solidFill>
                <a:latin typeface="Roboto Mono"/>
                <a:ea typeface="Roboto Mono"/>
                <a:cs typeface="Roboto Mono"/>
                <a:sym typeface="Roboto Mono"/>
              </a:rPr>
              <a:t>TUTORIAL AGENDA</a:t>
            </a:r>
            <a:endParaRPr sz="3417" dirty="0"/>
          </a:p>
        </p:txBody>
      </p:sp>
      <p:sp>
        <p:nvSpPr>
          <p:cNvPr id="109" name="Google Shape;109;p18"/>
          <p:cNvSpPr/>
          <p:nvPr/>
        </p:nvSpPr>
        <p:spPr>
          <a:xfrm>
            <a:off x="640854" y="5761732"/>
            <a:ext cx="10910250" cy="13750"/>
          </a:xfrm>
          <a:prstGeom prst="rect">
            <a:avLst/>
          </a:prstGeom>
          <a:solidFill>
            <a:srgbClr val="1C1C18">
              <a:alpha val="50200"/>
            </a:srgbClr>
          </a:solidFill>
          <a:ln>
            <a:noFill/>
          </a:ln>
        </p:spPr>
        <p:txBody>
          <a:bodyPr spcFirstLastPara="1" wrap="square" lIns="76188" tIns="76188" rIns="76188" bIns="76188" anchor="ctr" anchorCtr="0">
            <a:noAutofit/>
          </a:bodyPr>
          <a:lstStyle/>
          <a:p>
            <a:endParaRPr sz="1500"/>
          </a:p>
        </p:txBody>
      </p:sp>
      <p:sp>
        <p:nvSpPr>
          <p:cNvPr id="110" name="Google Shape;110;p18"/>
          <p:cNvSpPr/>
          <p:nvPr/>
        </p:nvSpPr>
        <p:spPr>
          <a:xfrm>
            <a:off x="640854" y="6020693"/>
            <a:ext cx="10910250" cy="2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8823"/>
              </a:lnSpc>
              <a:buClr>
                <a:srgbClr val="8A8A85"/>
              </a:buClr>
              <a:buSzPts val="1700"/>
            </a:pPr>
            <a:r>
              <a:rPr lang="pl" sz="1417" dirty="0">
                <a:solidFill>
                  <a:srgbClr val="8A8A85"/>
                </a:solidFill>
                <a:latin typeface="Inter"/>
                <a:ea typeface="Inter"/>
                <a:cs typeface="Inter"/>
                <a:sym typeface="Inter"/>
              </a:rPr>
              <a:t>Igor Czyrski – Nice Project</a:t>
            </a:r>
            <a:endParaRPr sz="141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/>
          <p:nvPr/>
        </p:nvSpPr>
        <p:spPr>
          <a:xfrm>
            <a:off x="640854" y="2087067"/>
            <a:ext cx="10910250" cy="63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39" indent="-285739" algn="just">
              <a:lnSpc>
                <a:spcPct val="100000"/>
              </a:lnSpc>
              <a:spcBef>
                <a:spcPts val="0"/>
              </a:spcBef>
              <a:buClr>
                <a:srgbClr val="1C1C18"/>
              </a:buClr>
              <a:buSzPts val="1700"/>
              <a:buFont typeface="Inter"/>
              <a:buChar char="•"/>
            </a:pPr>
            <a:r>
              <a:rPr lang="pl-PL" sz="1600" dirty="0"/>
              <a:t>Open source</a:t>
            </a:r>
          </a:p>
          <a:p>
            <a:pPr marL="285739" indent="-285739" algn="just">
              <a:lnSpc>
                <a:spcPct val="100000"/>
              </a:lnSpc>
              <a:spcBef>
                <a:spcPts val="0"/>
              </a:spcBef>
              <a:buClr>
                <a:srgbClr val="1C1C18"/>
              </a:buClr>
              <a:buSzPts val="1700"/>
              <a:buFont typeface="Inter"/>
              <a:buChar char="•"/>
            </a:pPr>
            <a:r>
              <a:rPr lang="pl-PL" sz="1600" dirty="0"/>
              <a:t>Easy to read(code and results)</a:t>
            </a:r>
          </a:p>
          <a:p>
            <a:pPr marL="285739" indent="-285739" algn="just">
              <a:lnSpc>
                <a:spcPct val="100000"/>
              </a:lnSpc>
              <a:spcBef>
                <a:spcPts val="0"/>
              </a:spcBef>
              <a:buClr>
                <a:srgbClr val="1C1C18"/>
              </a:buClr>
              <a:buSzPts val="1700"/>
              <a:buFont typeface="Inter"/>
              <a:buChar char="•"/>
            </a:pPr>
            <a:r>
              <a:rPr lang="pl-PL" sz="1600" dirty="0"/>
              <a:t>Easy to install</a:t>
            </a:r>
          </a:p>
          <a:p>
            <a:pPr marL="285739" indent="-285739" algn="just">
              <a:lnSpc>
                <a:spcPct val="100000"/>
              </a:lnSpc>
              <a:spcBef>
                <a:spcPts val="0"/>
              </a:spcBef>
              <a:buClr>
                <a:srgbClr val="1C1C18"/>
              </a:buClr>
              <a:buSzPts val="1700"/>
              <a:buFont typeface="Inter"/>
              <a:buChar char="•"/>
            </a:pPr>
            <a:r>
              <a:rPr lang="pl-PL" sz="1600" dirty="0"/>
              <a:t>Simple project structure</a:t>
            </a:r>
          </a:p>
          <a:p>
            <a:pPr marL="285739" indent="-285739" algn="just">
              <a:lnSpc>
                <a:spcPct val="100000"/>
              </a:lnSpc>
              <a:spcBef>
                <a:spcPts val="0"/>
              </a:spcBef>
              <a:buClr>
                <a:srgbClr val="1C1C18"/>
              </a:buClr>
              <a:buSzPts val="1700"/>
              <a:buFont typeface="Inter"/>
              <a:buChar char="•"/>
            </a:pPr>
            <a:r>
              <a:rPr lang="pl-PL" sz="1600" dirty="0"/>
              <a:t>Versatile and expandable</a:t>
            </a:r>
          </a:p>
          <a:p>
            <a:pPr marL="285739" indent="-285739" algn="just">
              <a:lnSpc>
                <a:spcPct val="100000"/>
              </a:lnSpc>
              <a:spcBef>
                <a:spcPts val="0"/>
              </a:spcBef>
              <a:buClr>
                <a:srgbClr val="1C1C18"/>
              </a:buClr>
              <a:buSzPts val="1700"/>
              <a:buFont typeface="Inter"/>
              <a:buChar char="•"/>
            </a:pPr>
            <a:endParaRPr lang="pl-PL" sz="1600" dirty="0"/>
          </a:p>
          <a:p>
            <a:pPr algn="just"/>
            <a:r>
              <a:rPr lang="pl-PL" sz="1600" dirty="0"/>
              <a:t>Robot Framework is based on Keyword Driven Testing approach</a:t>
            </a:r>
          </a:p>
        </p:txBody>
      </p:sp>
      <p:sp>
        <p:nvSpPr>
          <p:cNvPr id="117" name="Google Shape;117;p19"/>
          <p:cNvSpPr/>
          <p:nvPr/>
        </p:nvSpPr>
        <p:spPr>
          <a:xfrm>
            <a:off x="640875" y="4132184"/>
            <a:ext cx="10910250" cy="294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8823"/>
              </a:lnSpc>
              <a:buClr>
                <a:srgbClr val="1C1C18"/>
              </a:buClr>
              <a:buSzPts val="1700"/>
            </a:pPr>
            <a:r>
              <a:rPr lang="pl" sz="1417" dirty="0">
                <a:solidFill>
                  <a:srgbClr val="1C1C18"/>
                </a:solidFill>
                <a:highlight>
                  <a:srgbClr val="EBEAE6"/>
                </a:highlight>
                <a:latin typeface="Consolas"/>
                <a:ea typeface="Consolas"/>
                <a:cs typeface="Consolas"/>
                <a:sym typeface="Consolas"/>
              </a:rPr>
              <a:t># robot framework</a:t>
            </a:r>
            <a:endParaRPr sz="1417" dirty="0"/>
          </a:p>
        </p:txBody>
      </p:sp>
      <p:sp>
        <p:nvSpPr>
          <p:cNvPr id="118" name="Google Shape;118;p19"/>
          <p:cNvSpPr/>
          <p:nvPr/>
        </p:nvSpPr>
        <p:spPr>
          <a:xfrm>
            <a:off x="640854" y="4723045"/>
            <a:ext cx="10910250" cy="511345"/>
          </a:xfrm>
          <a:prstGeom prst="roundRect">
            <a:avLst>
              <a:gd name="adj" fmla="val 363"/>
            </a:avLst>
          </a:prstGeom>
          <a:solidFill>
            <a:srgbClr val="EBEAE6"/>
          </a:solidFill>
          <a:ln>
            <a:noFill/>
          </a:ln>
        </p:spPr>
        <p:txBody>
          <a:bodyPr spcFirstLastPara="1" wrap="square" lIns="76188" tIns="76188" rIns="76188" bIns="76188" anchor="ctr" anchorCtr="0">
            <a:noAutofit/>
          </a:bodyPr>
          <a:lstStyle/>
          <a:p>
            <a:endParaRPr sz="1500"/>
          </a:p>
        </p:txBody>
      </p:sp>
      <p:sp>
        <p:nvSpPr>
          <p:cNvPr id="119" name="Google Shape;119;p19"/>
          <p:cNvSpPr/>
          <p:nvPr/>
        </p:nvSpPr>
        <p:spPr>
          <a:xfrm>
            <a:off x="640875" y="4426935"/>
            <a:ext cx="10928500" cy="821204"/>
          </a:xfrm>
          <a:prstGeom prst="roundRect">
            <a:avLst>
              <a:gd name="adj" fmla="val 1310"/>
            </a:avLst>
          </a:prstGeom>
          <a:solidFill>
            <a:srgbClr val="EBEAE6"/>
          </a:solidFill>
          <a:ln>
            <a:noFill/>
          </a:ln>
        </p:spPr>
        <p:txBody>
          <a:bodyPr spcFirstLastPara="1" wrap="square" lIns="76188" tIns="76188" rIns="76188" bIns="76188" anchor="ctr" anchorCtr="0">
            <a:noAutofit/>
          </a:bodyPr>
          <a:lstStyle/>
          <a:p>
            <a:endParaRPr sz="1500"/>
          </a:p>
        </p:txBody>
      </p:sp>
      <p:sp>
        <p:nvSpPr>
          <p:cNvPr id="120" name="Google Shape;120;p19"/>
          <p:cNvSpPr/>
          <p:nvPr/>
        </p:nvSpPr>
        <p:spPr>
          <a:xfrm>
            <a:off x="869667" y="4256882"/>
            <a:ext cx="10471000" cy="842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8823"/>
              </a:lnSpc>
              <a:buClr>
                <a:srgbClr val="1C1C18"/>
              </a:buClr>
              <a:buSzPts val="1700"/>
            </a:pPr>
            <a:endParaRPr lang="pl-PL" sz="1417" dirty="0"/>
          </a:p>
          <a:p>
            <a:pPr>
              <a:lnSpc>
                <a:spcPct val="158823"/>
              </a:lnSpc>
              <a:buClr>
                <a:srgbClr val="1C1C18"/>
              </a:buClr>
              <a:buSzPts val="1700"/>
            </a:pPr>
            <a:r>
              <a:rPr lang="pl-PL" sz="1417" dirty="0"/>
              <a:t>${value}=		Keyword name	${parameter}</a:t>
            </a:r>
            <a:endParaRPr sz="1417" dirty="0"/>
          </a:p>
        </p:txBody>
      </p:sp>
      <p:sp>
        <p:nvSpPr>
          <p:cNvPr id="121" name="Google Shape;121;p19"/>
          <p:cNvSpPr/>
          <p:nvPr/>
        </p:nvSpPr>
        <p:spPr>
          <a:xfrm>
            <a:off x="640854" y="5761732"/>
            <a:ext cx="10910250" cy="13750"/>
          </a:xfrm>
          <a:prstGeom prst="rect">
            <a:avLst/>
          </a:prstGeom>
          <a:solidFill>
            <a:srgbClr val="1C1C18">
              <a:alpha val="50200"/>
            </a:srgbClr>
          </a:solidFill>
          <a:ln>
            <a:noFill/>
          </a:ln>
        </p:spPr>
        <p:txBody>
          <a:bodyPr spcFirstLastPara="1" wrap="square" lIns="76188" tIns="76188" rIns="76188" bIns="76188" anchor="ctr" anchorCtr="0">
            <a:noAutofit/>
          </a:bodyPr>
          <a:lstStyle/>
          <a:p>
            <a:endParaRPr sz="1500"/>
          </a:p>
        </p:txBody>
      </p:sp>
      <p:sp>
        <p:nvSpPr>
          <p:cNvPr id="122" name="Google Shape;122;p19"/>
          <p:cNvSpPr/>
          <p:nvPr/>
        </p:nvSpPr>
        <p:spPr>
          <a:xfrm>
            <a:off x="640854" y="6020693"/>
            <a:ext cx="10910250" cy="2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8823"/>
              </a:lnSpc>
              <a:buClr>
                <a:srgbClr val="8A8A85"/>
              </a:buClr>
              <a:buSzPts val="1700"/>
            </a:pPr>
            <a:r>
              <a:rPr lang="pl" sz="1417" dirty="0">
                <a:solidFill>
                  <a:srgbClr val="8A8A85"/>
                </a:solidFill>
                <a:latin typeface="Inter"/>
                <a:ea typeface="Inter"/>
                <a:cs typeface="Inter"/>
                <a:sym typeface="Inter"/>
              </a:rPr>
              <a:t>Igor Czyrski – Nice Project</a:t>
            </a:r>
            <a:endParaRPr sz="1417" dirty="0"/>
          </a:p>
        </p:txBody>
      </p:sp>
      <p:sp>
        <p:nvSpPr>
          <p:cNvPr id="123" name="Google Shape;123;p19"/>
          <p:cNvSpPr/>
          <p:nvPr/>
        </p:nvSpPr>
        <p:spPr>
          <a:xfrm>
            <a:off x="640854" y="548807"/>
            <a:ext cx="4349000" cy="5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4390"/>
              </a:lnSpc>
              <a:buClr>
                <a:srgbClr val="1E00B6"/>
              </a:buClr>
              <a:buSzPts val="4100"/>
            </a:pPr>
            <a:r>
              <a:rPr lang="pl" sz="3417" b="1" dirty="0">
                <a:solidFill>
                  <a:srgbClr val="1E00B6"/>
                </a:solidFill>
                <a:latin typeface="Roboto Mono"/>
                <a:ea typeface="Roboto Mono"/>
                <a:cs typeface="Roboto Mono"/>
                <a:sym typeface="Roboto Mono"/>
              </a:rPr>
              <a:t>WHY TO CHOOSE ROBOT FRAMEWORK</a:t>
            </a:r>
            <a:endParaRPr sz="341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/>
          <p:nvPr/>
        </p:nvSpPr>
        <p:spPr>
          <a:xfrm>
            <a:off x="661479" y="2782518"/>
            <a:ext cx="10869000" cy="17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just"/>
            <a:r>
              <a:rPr lang="pl-PL" sz="1600" dirty="0"/>
              <a:t>We will write an automated test to check the functionality of the web shop – </a:t>
            </a:r>
            <a:r>
              <a:rPr lang="en-US" sz="1600" dirty="0"/>
              <a:t>logging into the site, adding a product to the cart, placing an order</a:t>
            </a:r>
            <a:r>
              <a:rPr lang="pl-PL" sz="1600" dirty="0"/>
              <a:t>.</a:t>
            </a:r>
          </a:p>
          <a:p>
            <a:pPr lvl="0" algn="just"/>
            <a:endParaRPr lang="pl-PL" sz="1600" dirty="0">
              <a:solidFill>
                <a:schemeClr val="accent3"/>
              </a:solidFill>
            </a:endParaRPr>
          </a:p>
          <a:p>
            <a:pPr lvl="0" algn="just"/>
            <a:r>
              <a:rPr lang="pl-PL" sz="1600" dirty="0">
                <a:solidFill>
                  <a:schemeClr val="tx2"/>
                </a:solidFill>
              </a:rPr>
              <a:t>SauceDemo.com </a:t>
            </a:r>
          </a:p>
          <a:p>
            <a:pPr lvl="0" algn="just"/>
            <a:r>
              <a:rPr lang="pl-PL" sz="1600" dirty="0"/>
              <a:t>A web UI demo platform that provides testers with a hands-on environment to assess web application interaction.</a:t>
            </a:r>
          </a:p>
          <a:p>
            <a:pPr lvl="0" algn="just"/>
            <a:endParaRPr lang="pl-PL" sz="1600" dirty="0"/>
          </a:p>
          <a:p>
            <a:pPr lvl="0" algn="just"/>
            <a:r>
              <a:rPr lang="pl-PL" sz="1600" dirty="0"/>
              <a:t>We will use BrowserLibrary to automate UI actions.</a:t>
            </a:r>
            <a:endParaRPr lang="en-US" sz="1600" dirty="0"/>
          </a:p>
          <a:p>
            <a:endParaRPr lang="en-GB" sz="1600" dirty="0"/>
          </a:p>
        </p:txBody>
      </p:sp>
      <p:sp>
        <p:nvSpPr>
          <p:cNvPr id="108" name="Google Shape;108;p18"/>
          <p:cNvSpPr/>
          <p:nvPr/>
        </p:nvSpPr>
        <p:spPr>
          <a:xfrm>
            <a:off x="640854" y="1167236"/>
            <a:ext cx="4349000" cy="5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4390"/>
              </a:lnSpc>
              <a:buClr>
                <a:srgbClr val="1E00B6"/>
              </a:buClr>
              <a:buSzPts val="4100"/>
            </a:pPr>
            <a:r>
              <a:rPr lang="pl" sz="3417" b="1" dirty="0">
                <a:solidFill>
                  <a:srgbClr val="1E00B6"/>
                </a:solidFill>
                <a:latin typeface="Roboto Mono"/>
                <a:ea typeface="Roboto Mono"/>
                <a:cs typeface="Roboto Mono"/>
                <a:sym typeface="Roboto Mono"/>
              </a:rPr>
              <a:t>WHAT WE WILL DO TODAY?</a:t>
            </a:r>
            <a:endParaRPr sz="3417" dirty="0"/>
          </a:p>
        </p:txBody>
      </p:sp>
      <p:sp>
        <p:nvSpPr>
          <p:cNvPr id="109" name="Google Shape;109;p18"/>
          <p:cNvSpPr/>
          <p:nvPr/>
        </p:nvSpPr>
        <p:spPr>
          <a:xfrm>
            <a:off x="640854" y="5761732"/>
            <a:ext cx="10910250" cy="13750"/>
          </a:xfrm>
          <a:prstGeom prst="rect">
            <a:avLst/>
          </a:prstGeom>
          <a:solidFill>
            <a:srgbClr val="1C1C18">
              <a:alpha val="50200"/>
            </a:srgbClr>
          </a:solidFill>
          <a:ln>
            <a:noFill/>
          </a:ln>
        </p:spPr>
        <p:txBody>
          <a:bodyPr spcFirstLastPara="1" wrap="square" lIns="76188" tIns="76188" rIns="76188" bIns="76188" anchor="ctr" anchorCtr="0">
            <a:noAutofit/>
          </a:bodyPr>
          <a:lstStyle/>
          <a:p>
            <a:endParaRPr sz="1500"/>
          </a:p>
        </p:txBody>
      </p:sp>
      <p:sp>
        <p:nvSpPr>
          <p:cNvPr id="110" name="Google Shape;110;p18"/>
          <p:cNvSpPr/>
          <p:nvPr/>
        </p:nvSpPr>
        <p:spPr>
          <a:xfrm>
            <a:off x="640854" y="6020693"/>
            <a:ext cx="10910250" cy="2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8823"/>
              </a:lnSpc>
              <a:buClr>
                <a:srgbClr val="8A8A85"/>
              </a:buClr>
              <a:buSzPts val="1700"/>
            </a:pPr>
            <a:r>
              <a:rPr lang="pl" sz="1417" dirty="0">
                <a:solidFill>
                  <a:srgbClr val="8A8A85"/>
                </a:solidFill>
                <a:latin typeface="Inter"/>
                <a:ea typeface="Inter"/>
                <a:cs typeface="Inter"/>
                <a:sym typeface="Inter"/>
              </a:rPr>
              <a:t>Igor Czyrski – Nice Project</a:t>
            </a:r>
            <a:endParaRPr sz="141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/>
          <p:nvPr/>
        </p:nvSpPr>
        <p:spPr>
          <a:xfrm>
            <a:off x="640854" y="2087067"/>
            <a:ext cx="10910250" cy="63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just"/>
            <a:endParaRPr lang="pl-PL" sz="1600" dirty="0"/>
          </a:p>
          <a:p>
            <a:pPr lvl="0" algn="just"/>
            <a:endParaRPr lang="pl-PL" sz="1600" dirty="0"/>
          </a:p>
          <a:p>
            <a:pPr lvl="0" algn="just"/>
            <a:endParaRPr lang="pl-PL" sz="1600" dirty="0"/>
          </a:p>
          <a:p>
            <a:pPr lvl="0" algn="just"/>
            <a:r>
              <a:rPr lang="pl-PL" sz="1600" dirty="0"/>
              <a:t>Let’s start with the installation:</a:t>
            </a:r>
          </a:p>
          <a:p>
            <a:pPr lvl="0" algn="just"/>
            <a:endParaRPr lang="pl-PL" sz="1600" dirty="0"/>
          </a:p>
          <a:p>
            <a:pPr marL="285739" indent="-285739" algn="just">
              <a:buClr>
                <a:srgbClr val="1C1C18"/>
              </a:buClr>
              <a:buSzPts val="1700"/>
              <a:buFont typeface="Inter"/>
              <a:buChar char="•"/>
            </a:pPr>
            <a:r>
              <a:rPr lang="pl-PL" sz="1600" dirty="0"/>
              <a:t>Virtual environment</a:t>
            </a:r>
          </a:p>
          <a:p>
            <a:pPr marL="285739" indent="-285739" algn="just">
              <a:buClr>
                <a:srgbClr val="1C1C18"/>
              </a:buClr>
              <a:buSzPts val="1700"/>
              <a:buFont typeface="Inter"/>
              <a:buChar char="•"/>
            </a:pPr>
            <a:r>
              <a:rPr lang="pl-PL" sz="1600" dirty="0"/>
              <a:t>Robot Framework</a:t>
            </a:r>
          </a:p>
          <a:p>
            <a:pPr marL="285739" indent="-285739" algn="just">
              <a:buClr>
                <a:srgbClr val="1C1C18"/>
              </a:buClr>
              <a:buSzPts val="1700"/>
              <a:buFont typeface="Inter"/>
              <a:buChar char="•"/>
            </a:pPr>
            <a:r>
              <a:rPr lang="pl-PL" sz="1600" dirty="0"/>
              <a:t>Browser and pyyaml library</a:t>
            </a:r>
          </a:p>
          <a:p>
            <a:pPr marL="285739" indent="-285739" algn="just">
              <a:buClr>
                <a:srgbClr val="1C1C18"/>
              </a:buClr>
              <a:buSzPts val="1700"/>
              <a:buFont typeface="Inter"/>
              <a:buChar char="•"/>
            </a:pPr>
            <a:r>
              <a:rPr lang="pl-PL" sz="1600" dirty="0"/>
              <a:t>RobotCode(IDE plugin fo VS)</a:t>
            </a:r>
          </a:p>
        </p:txBody>
      </p:sp>
      <p:sp>
        <p:nvSpPr>
          <p:cNvPr id="121" name="Google Shape;121;p19"/>
          <p:cNvSpPr/>
          <p:nvPr/>
        </p:nvSpPr>
        <p:spPr>
          <a:xfrm>
            <a:off x="640854" y="5761732"/>
            <a:ext cx="10910250" cy="13750"/>
          </a:xfrm>
          <a:prstGeom prst="rect">
            <a:avLst/>
          </a:prstGeom>
          <a:solidFill>
            <a:srgbClr val="1C1C18">
              <a:alpha val="50200"/>
            </a:srgbClr>
          </a:solidFill>
          <a:ln>
            <a:noFill/>
          </a:ln>
        </p:spPr>
        <p:txBody>
          <a:bodyPr spcFirstLastPara="1" wrap="square" lIns="76188" tIns="76188" rIns="76188" bIns="76188" anchor="ctr" anchorCtr="0">
            <a:noAutofit/>
          </a:bodyPr>
          <a:lstStyle/>
          <a:p>
            <a:endParaRPr sz="1500"/>
          </a:p>
        </p:txBody>
      </p:sp>
      <p:sp>
        <p:nvSpPr>
          <p:cNvPr id="122" name="Google Shape;122;p19"/>
          <p:cNvSpPr/>
          <p:nvPr/>
        </p:nvSpPr>
        <p:spPr>
          <a:xfrm>
            <a:off x="640854" y="6020693"/>
            <a:ext cx="10910250" cy="2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8823"/>
              </a:lnSpc>
              <a:buClr>
                <a:srgbClr val="8A8A85"/>
              </a:buClr>
              <a:buSzPts val="1700"/>
            </a:pPr>
            <a:r>
              <a:rPr lang="pl" sz="1417" dirty="0">
                <a:solidFill>
                  <a:srgbClr val="8A8A85"/>
                </a:solidFill>
                <a:latin typeface="Inter"/>
                <a:ea typeface="Inter"/>
                <a:cs typeface="Inter"/>
                <a:sym typeface="Inter"/>
              </a:rPr>
              <a:t>Igor Czyrski – Nice Project</a:t>
            </a:r>
            <a:endParaRPr sz="1417" dirty="0"/>
          </a:p>
        </p:txBody>
      </p:sp>
      <p:sp>
        <p:nvSpPr>
          <p:cNvPr id="123" name="Google Shape;123;p19"/>
          <p:cNvSpPr/>
          <p:nvPr/>
        </p:nvSpPr>
        <p:spPr>
          <a:xfrm>
            <a:off x="640854" y="700892"/>
            <a:ext cx="4349000" cy="5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4390"/>
              </a:lnSpc>
              <a:buClr>
                <a:srgbClr val="1E00B6"/>
              </a:buClr>
              <a:buSzPts val="4100"/>
            </a:pPr>
            <a:r>
              <a:rPr lang="pl" sz="3417" b="1" dirty="0">
                <a:solidFill>
                  <a:srgbClr val="1E00B6"/>
                </a:solidFill>
                <a:latin typeface="Roboto Mono"/>
                <a:ea typeface="Roboto Mono"/>
                <a:cs typeface="Roboto Mono"/>
                <a:sym typeface="Roboto Mono"/>
              </a:rPr>
              <a:t>ROBOT FRAMEWORK INSTALATION</a:t>
            </a:r>
            <a:endParaRPr sz="3417" dirty="0"/>
          </a:p>
        </p:txBody>
      </p:sp>
      <p:sp>
        <p:nvSpPr>
          <p:cNvPr id="3" name="Google Shape;117;p19">
            <a:extLst>
              <a:ext uri="{FF2B5EF4-FFF2-40B4-BE49-F238E27FC236}">
                <a16:creationId xmlns:a16="http://schemas.microsoft.com/office/drawing/2014/main" id="{90CB1726-F100-4CD2-6708-7DCE1D7F7FAC}"/>
              </a:ext>
            </a:extLst>
          </p:cNvPr>
          <p:cNvSpPr/>
          <p:nvPr/>
        </p:nvSpPr>
        <p:spPr>
          <a:xfrm>
            <a:off x="4830397" y="1709024"/>
            <a:ext cx="6857888" cy="1220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8823"/>
              </a:lnSpc>
              <a:buClr>
                <a:srgbClr val="1C1C18"/>
              </a:buClr>
              <a:buSzPts val="1700"/>
            </a:pPr>
            <a:r>
              <a:rPr lang="pl" sz="1417" dirty="0">
                <a:solidFill>
                  <a:srgbClr val="1C1C18"/>
                </a:solidFill>
                <a:highlight>
                  <a:srgbClr val="EBEAE6"/>
                </a:highlight>
                <a:latin typeface="Consolas"/>
                <a:ea typeface="Consolas"/>
                <a:cs typeface="Consolas"/>
                <a:sym typeface="Consolas"/>
              </a:rPr>
              <a:t># terminal</a:t>
            </a:r>
            <a:endParaRPr sz="1417" dirty="0"/>
          </a:p>
        </p:txBody>
      </p:sp>
      <p:sp>
        <p:nvSpPr>
          <p:cNvPr id="5" name="Google Shape;119;p19">
            <a:extLst>
              <a:ext uri="{FF2B5EF4-FFF2-40B4-BE49-F238E27FC236}">
                <a16:creationId xmlns:a16="http://schemas.microsoft.com/office/drawing/2014/main" id="{52D2C497-549F-6828-5B7A-B425014B653A}"/>
              </a:ext>
            </a:extLst>
          </p:cNvPr>
          <p:cNvSpPr/>
          <p:nvPr/>
        </p:nvSpPr>
        <p:spPr>
          <a:xfrm>
            <a:off x="4837175" y="2003774"/>
            <a:ext cx="6869359" cy="3400329"/>
          </a:xfrm>
          <a:prstGeom prst="roundRect">
            <a:avLst>
              <a:gd name="adj" fmla="val 1310"/>
            </a:avLst>
          </a:prstGeom>
          <a:solidFill>
            <a:srgbClr val="EBEAE6"/>
          </a:solidFill>
          <a:ln>
            <a:noFill/>
          </a:ln>
        </p:spPr>
        <p:txBody>
          <a:bodyPr spcFirstLastPara="1" wrap="square" lIns="76188" tIns="76188" rIns="76188" bIns="76188" anchor="ctr" anchorCtr="0">
            <a:noAutofit/>
          </a:bodyPr>
          <a:lstStyle/>
          <a:p>
            <a:pPr lvl="0"/>
            <a:endParaRPr lang="pl-PL" sz="2000" dirty="0"/>
          </a:p>
          <a:p>
            <a:pPr lvl="0"/>
            <a:r>
              <a:rPr lang="pl-PL" sz="2000" dirty="0"/>
              <a:t>&gt; python -m venv venv</a:t>
            </a:r>
          </a:p>
          <a:p>
            <a:pPr lvl="0"/>
            <a:r>
              <a:rPr lang="pl-PL" sz="2000" dirty="0"/>
              <a:t>&gt; .\venv\Scripts\activate</a:t>
            </a:r>
          </a:p>
          <a:p>
            <a:pPr lvl="0"/>
            <a:endParaRPr lang="pl-PL" sz="2000" dirty="0"/>
          </a:p>
          <a:p>
            <a:pPr lvl="0"/>
            <a:r>
              <a:rPr lang="pl-PL" sz="2000" dirty="0"/>
              <a:t>&gt; pip install robotframework</a:t>
            </a:r>
          </a:p>
          <a:p>
            <a:pPr lvl="0"/>
            <a:r>
              <a:rPr lang="pl-PL" sz="2000" dirty="0"/>
              <a:t>&gt; robot --version</a:t>
            </a:r>
          </a:p>
          <a:p>
            <a:pPr lvl="0"/>
            <a:endParaRPr lang="pl-PL" sz="2000" dirty="0"/>
          </a:p>
          <a:p>
            <a:pPr lvl="0"/>
            <a:r>
              <a:rPr lang="pl-PL" sz="2000" dirty="0"/>
              <a:t>&gt; pip install robotframework-browser</a:t>
            </a:r>
          </a:p>
          <a:p>
            <a:pPr lvl="0"/>
            <a:r>
              <a:rPr lang="pl-PL" sz="2000" dirty="0">
                <a:solidFill>
                  <a:srgbClr val="5FF15D"/>
                </a:solidFill>
              </a:rPr>
              <a:t>[NodeJS .exe installation]</a:t>
            </a:r>
          </a:p>
          <a:p>
            <a:pPr lvl="0"/>
            <a:r>
              <a:rPr lang="pl-PL" sz="2000" dirty="0"/>
              <a:t>&gt; rfbrowser init</a:t>
            </a:r>
          </a:p>
          <a:p>
            <a:pPr lvl="0"/>
            <a:r>
              <a:rPr lang="pl-PL" sz="2000" dirty="0"/>
              <a:t>&gt; pip install pyyaml</a:t>
            </a:r>
          </a:p>
          <a:p>
            <a:endParaRPr lang="en-GB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/>
          <p:nvPr/>
        </p:nvSpPr>
        <p:spPr>
          <a:xfrm>
            <a:off x="649979" y="2062230"/>
            <a:ext cx="10910250" cy="294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8823"/>
              </a:lnSpc>
              <a:buClr>
                <a:srgbClr val="1C1C18"/>
              </a:buClr>
              <a:buSzPts val="1700"/>
            </a:pPr>
            <a:r>
              <a:rPr lang="pl" sz="1417" dirty="0">
                <a:solidFill>
                  <a:srgbClr val="1C1C18"/>
                </a:solidFill>
                <a:highlight>
                  <a:srgbClr val="EBEAE6"/>
                </a:highlight>
                <a:latin typeface="Consolas"/>
                <a:ea typeface="Consolas"/>
                <a:cs typeface="Consolas"/>
                <a:sym typeface="Consolas"/>
              </a:rPr>
              <a:t># robot framework</a:t>
            </a:r>
            <a:endParaRPr sz="1417" dirty="0"/>
          </a:p>
        </p:txBody>
      </p:sp>
      <p:sp>
        <p:nvSpPr>
          <p:cNvPr id="118" name="Google Shape;118;p19"/>
          <p:cNvSpPr/>
          <p:nvPr/>
        </p:nvSpPr>
        <p:spPr>
          <a:xfrm>
            <a:off x="640854" y="3419773"/>
            <a:ext cx="10910250" cy="2096750"/>
          </a:xfrm>
          <a:prstGeom prst="roundRect">
            <a:avLst>
              <a:gd name="adj" fmla="val 363"/>
            </a:avLst>
          </a:prstGeom>
          <a:solidFill>
            <a:srgbClr val="EBEAE6"/>
          </a:solidFill>
          <a:ln>
            <a:noFill/>
          </a:ln>
        </p:spPr>
        <p:txBody>
          <a:bodyPr spcFirstLastPara="1" wrap="square" lIns="76188" tIns="76188" rIns="76188" bIns="76188" anchor="ctr" anchorCtr="0">
            <a:noAutofit/>
          </a:bodyPr>
          <a:lstStyle/>
          <a:p>
            <a:endParaRPr sz="1500"/>
          </a:p>
        </p:txBody>
      </p:sp>
      <p:sp>
        <p:nvSpPr>
          <p:cNvPr id="119" name="Google Shape;119;p19"/>
          <p:cNvSpPr/>
          <p:nvPr/>
        </p:nvSpPr>
        <p:spPr>
          <a:xfrm>
            <a:off x="631729" y="2356980"/>
            <a:ext cx="10928500" cy="3303156"/>
          </a:xfrm>
          <a:prstGeom prst="roundRect">
            <a:avLst>
              <a:gd name="adj" fmla="val 1310"/>
            </a:avLst>
          </a:prstGeom>
          <a:solidFill>
            <a:srgbClr val="EBEAE6"/>
          </a:solidFill>
          <a:ln>
            <a:noFill/>
          </a:ln>
        </p:spPr>
        <p:txBody>
          <a:bodyPr spcFirstLastPara="1" wrap="square" lIns="76188" tIns="76188" rIns="76188" bIns="76188" anchor="ctr" anchorCtr="0">
            <a:noAutofit/>
          </a:bodyPr>
          <a:lstStyle/>
          <a:p>
            <a:endParaRPr sz="1500"/>
          </a:p>
        </p:txBody>
      </p:sp>
      <p:sp>
        <p:nvSpPr>
          <p:cNvPr id="120" name="Google Shape;120;p19"/>
          <p:cNvSpPr/>
          <p:nvPr/>
        </p:nvSpPr>
        <p:spPr>
          <a:xfrm>
            <a:off x="869604" y="2491750"/>
            <a:ext cx="10471000" cy="20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70000"/>
              </a:lnSpc>
            </a:pPr>
            <a:r>
              <a:rPr lang="pl-PL" dirty="0">
                <a:solidFill>
                  <a:srgbClr val="1E00B6"/>
                </a:solidFill>
              </a:rPr>
              <a:t>*** Settings ***</a:t>
            </a:r>
          </a:p>
          <a:p>
            <a:pPr lvl="0">
              <a:lnSpc>
                <a:spcPct val="70000"/>
              </a:lnSpc>
            </a:pPr>
            <a:r>
              <a:rPr lang="pl-PL" sz="1600" dirty="0"/>
              <a:t>Library		Browser</a:t>
            </a:r>
          </a:p>
          <a:p>
            <a:pPr lvl="0">
              <a:lnSpc>
                <a:spcPct val="70000"/>
              </a:lnSpc>
            </a:pPr>
            <a:endParaRPr lang="pl-PL" dirty="0"/>
          </a:p>
          <a:p>
            <a:pPr lvl="0">
              <a:lnSpc>
                <a:spcPct val="70000"/>
              </a:lnSpc>
            </a:pPr>
            <a:r>
              <a:rPr lang="pl-PL" dirty="0">
                <a:solidFill>
                  <a:srgbClr val="1E00B6"/>
                </a:solidFill>
              </a:rPr>
              <a:t>*** Variables ***</a:t>
            </a:r>
          </a:p>
          <a:p>
            <a:pPr lvl="0">
              <a:lnSpc>
                <a:spcPct val="70000"/>
              </a:lnSpc>
            </a:pPr>
            <a:r>
              <a:rPr lang="pl-PL" sz="1600" dirty="0"/>
              <a:t>${user name}		john_doe</a:t>
            </a:r>
          </a:p>
          <a:p>
            <a:pPr lvl="0">
              <a:lnSpc>
                <a:spcPct val="70000"/>
              </a:lnSpc>
            </a:pPr>
            <a:endParaRPr lang="pl-PL" sz="1600" dirty="0"/>
          </a:p>
          <a:p>
            <a:pPr lvl="0">
              <a:lnSpc>
                <a:spcPct val="70000"/>
              </a:lnSpc>
            </a:pPr>
            <a:r>
              <a:rPr lang="pl-PL" dirty="0">
                <a:solidFill>
                  <a:srgbClr val="1E00B6"/>
                </a:solidFill>
              </a:rPr>
              <a:t>*** Test cases ***</a:t>
            </a:r>
          </a:p>
          <a:p>
            <a:pPr lvl="0">
              <a:lnSpc>
                <a:spcPct val="70000"/>
              </a:lnSpc>
            </a:pPr>
            <a:r>
              <a:rPr lang="pl-PL" sz="1600" dirty="0"/>
              <a:t>Logging in as an active user should open store page</a:t>
            </a:r>
          </a:p>
          <a:p>
            <a:pPr lvl="0">
              <a:lnSpc>
                <a:spcPct val="70000"/>
              </a:lnSpc>
            </a:pPr>
            <a:r>
              <a:rPr lang="pl-PL" sz="1600" dirty="0"/>
              <a:t>	Open login page</a:t>
            </a:r>
          </a:p>
          <a:p>
            <a:pPr lvl="0">
              <a:lnSpc>
                <a:spcPct val="70000"/>
              </a:lnSpc>
            </a:pPr>
            <a:r>
              <a:rPr lang="pl-PL" sz="1600" dirty="0"/>
              <a:t>	Type user name and password</a:t>
            </a:r>
          </a:p>
          <a:p>
            <a:pPr lvl="0">
              <a:lnSpc>
                <a:spcPct val="70000"/>
              </a:lnSpc>
            </a:pPr>
            <a:r>
              <a:rPr lang="pl-PL" sz="1600" dirty="0"/>
              <a:t>	Click login button</a:t>
            </a:r>
          </a:p>
          <a:p>
            <a:pPr lvl="0">
              <a:lnSpc>
                <a:spcPct val="70000"/>
              </a:lnSpc>
            </a:pPr>
            <a:r>
              <a:rPr lang="pl-PL" sz="1600" dirty="0"/>
              <a:t>	</a:t>
            </a:r>
          </a:p>
          <a:p>
            <a:pPr lvl="0">
              <a:lnSpc>
                <a:spcPct val="70000"/>
              </a:lnSpc>
            </a:pPr>
            <a:r>
              <a:rPr lang="pl-PL" dirty="0">
                <a:solidFill>
                  <a:srgbClr val="1E00B6"/>
                </a:solidFill>
              </a:rPr>
              <a:t>*** Keywords ***</a:t>
            </a:r>
          </a:p>
          <a:p>
            <a:pPr lvl="0">
              <a:lnSpc>
                <a:spcPct val="70000"/>
              </a:lnSpc>
            </a:pPr>
            <a:r>
              <a:rPr lang="pl-PL" sz="1600" dirty="0"/>
              <a:t>Open login page</a:t>
            </a:r>
          </a:p>
          <a:p>
            <a:pPr lvl="0">
              <a:lnSpc>
                <a:spcPct val="70000"/>
              </a:lnSpc>
            </a:pPr>
            <a:r>
              <a:rPr lang="pl-PL" sz="1600" dirty="0"/>
              <a:t>	New browser	chromium		headless=false</a:t>
            </a:r>
          </a:p>
          <a:p>
            <a:pPr lvl="0">
              <a:lnSpc>
                <a:spcPct val="70000"/>
              </a:lnSpc>
            </a:pPr>
            <a:r>
              <a:rPr lang="pl-PL" sz="1600" dirty="0"/>
              <a:t>	New page	 	https://www.saucedemo.com/</a:t>
            </a:r>
          </a:p>
        </p:txBody>
      </p:sp>
      <p:sp>
        <p:nvSpPr>
          <p:cNvPr id="121" name="Google Shape;121;p19"/>
          <p:cNvSpPr/>
          <p:nvPr/>
        </p:nvSpPr>
        <p:spPr>
          <a:xfrm>
            <a:off x="640854" y="5761732"/>
            <a:ext cx="10910250" cy="13750"/>
          </a:xfrm>
          <a:prstGeom prst="rect">
            <a:avLst/>
          </a:prstGeom>
          <a:solidFill>
            <a:srgbClr val="1C1C18">
              <a:alpha val="50200"/>
            </a:srgbClr>
          </a:solidFill>
          <a:ln>
            <a:noFill/>
          </a:ln>
        </p:spPr>
        <p:txBody>
          <a:bodyPr spcFirstLastPara="1" wrap="square" lIns="76188" tIns="76188" rIns="76188" bIns="76188" anchor="ctr" anchorCtr="0">
            <a:noAutofit/>
          </a:bodyPr>
          <a:lstStyle/>
          <a:p>
            <a:endParaRPr sz="1500"/>
          </a:p>
        </p:txBody>
      </p:sp>
      <p:sp>
        <p:nvSpPr>
          <p:cNvPr id="122" name="Google Shape;122;p19"/>
          <p:cNvSpPr/>
          <p:nvPr/>
        </p:nvSpPr>
        <p:spPr>
          <a:xfrm>
            <a:off x="640854" y="6020693"/>
            <a:ext cx="10910250" cy="2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8823"/>
              </a:lnSpc>
              <a:buClr>
                <a:srgbClr val="8A8A85"/>
              </a:buClr>
              <a:buSzPts val="1700"/>
            </a:pPr>
            <a:r>
              <a:rPr lang="pl" sz="1417" dirty="0">
                <a:solidFill>
                  <a:srgbClr val="8A8A85"/>
                </a:solidFill>
                <a:latin typeface="Inter"/>
                <a:ea typeface="Inter"/>
                <a:cs typeface="Inter"/>
                <a:sym typeface="Inter"/>
              </a:rPr>
              <a:t>Igor Czyrski – Nice Project</a:t>
            </a:r>
            <a:endParaRPr sz="1417" dirty="0"/>
          </a:p>
        </p:txBody>
      </p:sp>
      <p:sp>
        <p:nvSpPr>
          <p:cNvPr id="123" name="Google Shape;123;p19"/>
          <p:cNvSpPr/>
          <p:nvPr/>
        </p:nvSpPr>
        <p:spPr>
          <a:xfrm>
            <a:off x="640854" y="673460"/>
            <a:ext cx="4349000" cy="5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4390"/>
              </a:lnSpc>
              <a:buClr>
                <a:srgbClr val="1E00B6"/>
              </a:buClr>
              <a:buSzPts val="4100"/>
            </a:pPr>
            <a:r>
              <a:rPr lang="pl" sz="3417" b="1" dirty="0">
                <a:solidFill>
                  <a:srgbClr val="1E00B6"/>
                </a:solidFill>
                <a:latin typeface="Roboto Mono"/>
                <a:ea typeface="Roboto Mono"/>
                <a:cs typeface="Roboto Mono"/>
                <a:sym typeface="Roboto Mono"/>
              </a:rPr>
              <a:t>ROBOT FRAMEWORK CODE STRUCTURE</a:t>
            </a:r>
            <a:endParaRPr sz="341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/>
          <p:nvPr/>
        </p:nvSpPr>
        <p:spPr>
          <a:xfrm>
            <a:off x="661492" y="2581350"/>
            <a:ext cx="10869000" cy="17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just"/>
            <a:r>
              <a:rPr lang="pl-PL" sz="1600" dirty="0"/>
              <a:t>Robot files (</a:t>
            </a:r>
            <a:r>
              <a:rPr lang="pl-PL" sz="1600" dirty="0">
                <a:solidFill>
                  <a:schemeClr val="tx2"/>
                </a:solidFill>
              </a:rPr>
              <a:t>.robot</a:t>
            </a:r>
            <a:r>
              <a:rPr lang="pl-PL" sz="1600" dirty="0"/>
              <a:t>), containing test cases are automatically considered as a test suites.</a:t>
            </a:r>
          </a:p>
          <a:p>
            <a:pPr lvl="0" algn="just"/>
            <a:endParaRPr lang="pl-PL" sz="1600" dirty="0"/>
          </a:p>
          <a:p>
            <a:pPr lvl="0" algn="just"/>
            <a:r>
              <a:rPr lang="pl-PL" sz="1600" dirty="0"/>
              <a:t>Hierarchical structure of test suites</a:t>
            </a:r>
          </a:p>
          <a:p>
            <a:pPr lvl="0" algn="just"/>
            <a:endParaRPr lang="pl-PL" sz="1600" dirty="0"/>
          </a:p>
          <a:p>
            <a:pPr lvl="0" algn="just"/>
            <a:r>
              <a:rPr lang="pl-PL" sz="1600" dirty="0"/>
              <a:t>Resource files with variables and higher-level user keywords</a:t>
            </a:r>
          </a:p>
          <a:p>
            <a:pPr lvl="0" algn="just"/>
            <a:endParaRPr lang="pl-PL" dirty="0"/>
          </a:p>
          <a:p>
            <a:pPr lvl="0" algn="just"/>
            <a:r>
              <a:rPr lang="pl-PL" sz="1600" dirty="0"/>
              <a:t>Variable files to provide more flexible ways to create variables</a:t>
            </a:r>
          </a:p>
          <a:p>
            <a:pPr lvl="0" algn="just"/>
            <a:endParaRPr lang="pl-PL" sz="1600" dirty="0"/>
          </a:p>
          <a:p>
            <a:pPr lvl="0" algn="just"/>
            <a:r>
              <a:rPr lang="pl-PL" sz="1600" dirty="0"/>
              <a:t>Test libraries containing the lowest-level keywords</a:t>
            </a:r>
          </a:p>
          <a:p>
            <a:pPr lvl="0" algn="just"/>
            <a:endParaRPr lang="pl-PL" sz="1600" dirty="0"/>
          </a:p>
          <a:p>
            <a:pPr lvl="0" algn="just"/>
            <a:endParaRPr lang="pl-PL" sz="1600" dirty="0"/>
          </a:p>
          <a:p>
            <a:pPr lvl="0" algn="just"/>
            <a:endParaRPr lang="pl-PL" sz="1600" dirty="0"/>
          </a:p>
          <a:p>
            <a:pPr lvl="0" algn="just"/>
            <a:endParaRPr lang="de-DE" sz="1600" dirty="0"/>
          </a:p>
          <a:p>
            <a:endParaRPr lang="en-GB" sz="1600" dirty="0"/>
          </a:p>
        </p:txBody>
      </p:sp>
      <p:sp>
        <p:nvSpPr>
          <p:cNvPr id="108" name="Google Shape;108;p18"/>
          <p:cNvSpPr/>
          <p:nvPr/>
        </p:nvSpPr>
        <p:spPr>
          <a:xfrm>
            <a:off x="640854" y="728324"/>
            <a:ext cx="4349000" cy="5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4390"/>
              </a:lnSpc>
              <a:buClr>
                <a:srgbClr val="1E00B6"/>
              </a:buClr>
              <a:buSzPts val="4100"/>
            </a:pPr>
            <a:r>
              <a:rPr lang="pl" sz="3417" b="1" dirty="0">
                <a:solidFill>
                  <a:srgbClr val="1E00B6"/>
                </a:solidFill>
                <a:latin typeface="Roboto Mono"/>
                <a:ea typeface="Roboto Mono"/>
                <a:cs typeface="Roboto Mono"/>
                <a:sym typeface="Roboto Mono"/>
              </a:rPr>
              <a:t>PROJECT STRUCTURE</a:t>
            </a:r>
            <a:endParaRPr sz="3417" dirty="0"/>
          </a:p>
        </p:txBody>
      </p:sp>
      <p:sp>
        <p:nvSpPr>
          <p:cNvPr id="109" name="Google Shape;109;p18"/>
          <p:cNvSpPr/>
          <p:nvPr/>
        </p:nvSpPr>
        <p:spPr>
          <a:xfrm>
            <a:off x="640854" y="5761732"/>
            <a:ext cx="10910250" cy="13750"/>
          </a:xfrm>
          <a:prstGeom prst="rect">
            <a:avLst/>
          </a:prstGeom>
          <a:solidFill>
            <a:srgbClr val="1C1C18">
              <a:alpha val="50200"/>
            </a:srgbClr>
          </a:solidFill>
          <a:ln>
            <a:noFill/>
          </a:ln>
        </p:spPr>
        <p:txBody>
          <a:bodyPr spcFirstLastPara="1" wrap="square" lIns="76188" tIns="76188" rIns="76188" bIns="76188" anchor="ctr" anchorCtr="0">
            <a:noAutofit/>
          </a:bodyPr>
          <a:lstStyle/>
          <a:p>
            <a:endParaRPr sz="1500"/>
          </a:p>
        </p:txBody>
      </p:sp>
      <p:sp>
        <p:nvSpPr>
          <p:cNvPr id="110" name="Google Shape;110;p18"/>
          <p:cNvSpPr/>
          <p:nvPr/>
        </p:nvSpPr>
        <p:spPr>
          <a:xfrm>
            <a:off x="640854" y="6020693"/>
            <a:ext cx="10910250" cy="2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8823"/>
              </a:lnSpc>
              <a:buClr>
                <a:srgbClr val="8A8A85"/>
              </a:buClr>
              <a:buSzPts val="1700"/>
            </a:pPr>
            <a:r>
              <a:rPr lang="pl" sz="1417" dirty="0">
                <a:solidFill>
                  <a:srgbClr val="8A8A85"/>
                </a:solidFill>
                <a:latin typeface="Inter"/>
                <a:ea typeface="Inter"/>
                <a:cs typeface="Inter"/>
                <a:sym typeface="Inter"/>
              </a:rPr>
              <a:t>Igor Czyrski – Nice Project</a:t>
            </a:r>
            <a:endParaRPr sz="141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C4BE86BA-25E7-88ED-3451-CCA103DB7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>
            <a:extLst>
              <a:ext uri="{FF2B5EF4-FFF2-40B4-BE49-F238E27FC236}">
                <a16:creationId xmlns:a16="http://schemas.microsoft.com/office/drawing/2014/main" id="{96825AAB-37C8-9B3A-7DF1-B488DDC90260}"/>
              </a:ext>
            </a:extLst>
          </p:cNvPr>
          <p:cNvSpPr/>
          <p:nvPr/>
        </p:nvSpPr>
        <p:spPr>
          <a:xfrm>
            <a:off x="640854" y="2443682"/>
            <a:ext cx="3995154" cy="1341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just"/>
            <a:endParaRPr lang="pl-PL" dirty="0"/>
          </a:p>
          <a:p>
            <a:pPr lvl="0" algn="just"/>
            <a:r>
              <a:rPr lang="pl-PL" dirty="0"/>
              <a:t>Execution is normally started using the </a:t>
            </a:r>
            <a:r>
              <a:rPr lang="pl-PL" dirty="0">
                <a:solidFill>
                  <a:schemeClr val="tx2"/>
                </a:solidFill>
              </a:rPr>
              <a:t>robot</a:t>
            </a:r>
            <a:r>
              <a:rPr lang="pl-PL" dirty="0">
                <a:solidFill>
                  <a:srgbClr val="BF71FF"/>
                </a:solidFill>
              </a:rPr>
              <a:t> </a:t>
            </a:r>
            <a:r>
              <a:rPr lang="pl-PL" dirty="0"/>
              <a:t>command created as a part of installation</a:t>
            </a:r>
            <a:endParaRPr lang="de-DE" dirty="0">
              <a:solidFill>
                <a:srgbClr val="BF71FF"/>
              </a:solidFill>
            </a:endParaRPr>
          </a:p>
        </p:txBody>
      </p:sp>
      <p:sp>
        <p:nvSpPr>
          <p:cNvPr id="121" name="Google Shape;121;p19">
            <a:extLst>
              <a:ext uri="{FF2B5EF4-FFF2-40B4-BE49-F238E27FC236}">
                <a16:creationId xmlns:a16="http://schemas.microsoft.com/office/drawing/2014/main" id="{8BE15A7A-622D-5C11-20B0-5FB8FCF69C73}"/>
              </a:ext>
            </a:extLst>
          </p:cNvPr>
          <p:cNvSpPr/>
          <p:nvPr/>
        </p:nvSpPr>
        <p:spPr>
          <a:xfrm>
            <a:off x="640854" y="5761732"/>
            <a:ext cx="10910250" cy="13750"/>
          </a:xfrm>
          <a:prstGeom prst="rect">
            <a:avLst/>
          </a:prstGeom>
          <a:solidFill>
            <a:srgbClr val="1C1C18">
              <a:alpha val="50200"/>
            </a:srgbClr>
          </a:solidFill>
          <a:ln>
            <a:noFill/>
          </a:ln>
        </p:spPr>
        <p:txBody>
          <a:bodyPr spcFirstLastPara="1" wrap="square" lIns="76188" tIns="76188" rIns="76188" bIns="76188" anchor="ctr" anchorCtr="0">
            <a:noAutofit/>
          </a:bodyPr>
          <a:lstStyle/>
          <a:p>
            <a:endParaRPr sz="1500"/>
          </a:p>
        </p:txBody>
      </p:sp>
      <p:sp>
        <p:nvSpPr>
          <p:cNvPr id="122" name="Google Shape;122;p19">
            <a:extLst>
              <a:ext uri="{FF2B5EF4-FFF2-40B4-BE49-F238E27FC236}">
                <a16:creationId xmlns:a16="http://schemas.microsoft.com/office/drawing/2014/main" id="{5B3FA7EB-BC2E-72C3-4F7E-9D20F4F82DE9}"/>
              </a:ext>
            </a:extLst>
          </p:cNvPr>
          <p:cNvSpPr/>
          <p:nvPr/>
        </p:nvSpPr>
        <p:spPr>
          <a:xfrm>
            <a:off x="640854" y="6020693"/>
            <a:ext cx="10910250" cy="2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8823"/>
              </a:lnSpc>
              <a:buClr>
                <a:srgbClr val="8A8A85"/>
              </a:buClr>
              <a:buSzPts val="1700"/>
            </a:pPr>
            <a:r>
              <a:rPr lang="pl" sz="1417" dirty="0">
                <a:solidFill>
                  <a:srgbClr val="8A8A85"/>
                </a:solidFill>
                <a:latin typeface="Inter"/>
                <a:ea typeface="Inter"/>
                <a:cs typeface="Inter"/>
                <a:sym typeface="Inter"/>
              </a:rPr>
              <a:t>Igor Czyrski – Nice Project</a:t>
            </a:r>
            <a:endParaRPr sz="1417" dirty="0"/>
          </a:p>
        </p:txBody>
      </p:sp>
      <p:sp>
        <p:nvSpPr>
          <p:cNvPr id="123" name="Google Shape;123;p19">
            <a:extLst>
              <a:ext uri="{FF2B5EF4-FFF2-40B4-BE49-F238E27FC236}">
                <a16:creationId xmlns:a16="http://schemas.microsoft.com/office/drawing/2014/main" id="{6C248EE2-B6F5-01A4-3258-2C52D6D62239}"/>
              </a:ext>
            </a:extLst>
          </p:cNvPr>
          <p:cNvSpPr/>
          <p:nvPr/>
        </p:nvSpPr>
        <p:spPr>
          <a:xfrm>
            <a:off x="640854" y="700892"/>
            <a:ext cx="4349000" cy="5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4390"/>
              </a:lnSpc>
              <a:buClr>
                <a:srgbClr val="1E00B6"/>
              </a:buClr>
              <a:buSzPts val="4100"/>
            </a:pPr>
            <a:r>
              <a:rPr lang="pl" sz="3417" b="1" dirty="0">
                <a:solidFill>
                  <a:srgbClr val="1E00B6"/>
                </a:solidFill>
                <a:latin typeface="Roboto Mono"/>
                <a:ea typeface="Roboto Mono"/>
                <a:cs typeface="Roboto Mono"/>
                <a:sym typeface="Roboto Mono"/>
              </a:rPr>
              <a:t>LAUNCHING THE TESTS</a:t>
            </a:r>
            <a:endParaRPr sz="3417" dirty="0"/>
          </a:p>
        </p:txBody>
      </p:sp>
      <p:sp>
        <p:nvSpPr>
          <p:cNvPr id="3" name="Google Shape;117;p19">
            <a:extLst>
              <a:ext uri="{FF2B5EF4-FFF2-40B4-BE49-F238E27FC236}">
                <a16:creationId xmlns:a16="http://schemas.microsoft.com/office/drawing/2014/main" id="{245F0263-4CB2-2291-36E5-8A78E1A7BE58}"/>
              </a:ext>
            </a:extLst>
          </p:cNvPr>
          <p:cNvSpPr/>
          <p:nvPr/>
        </p:nvSpPr>
        <p:spPr>
          <a:xfrm>
            <a:off x="4830397" y="1709024"/>
            <a:ext cx="6857888" cy="1220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8823"/>
              </a:lnSpc>
              <a:buClr>
                <a:srgbClr val="1C1C18"/>
              </a:buClr>
              <a:buSzPts val="1700"/>
            </a:pPr>
            <a:r>
              <a:rPr lang="pl" sz="1417" dirty="0">
                <a:solidFill>
                  <a:srgbClr val="1C1C18"/>
                </a:solidFill>
                <a:highlight>
                  <a:srgbClr val="EBEAE6"/>
                </a:highlight>
                <a:latin typeface="Consolas"/>
                <a:ea typeface="Consolas"/>
                <a:cs typeface="Consolas"/>
                <a:sym typeface="Consolas"/>
              </a:rPr>
              <a:t># terminal</a:t>
            </a:r>
            <a:endParaRPr sz="1417" dirty="0"/>
          </a:p>
        </p:txBody>
      </p:sp>
      <p:sp>
        <p:nvSpPr>
          <p:cNvPr id="5" name="Google Shape;119;p19">
            <a:extLst>
              <a:ext uri="{FF2B5EF4-FFF2-40B4-BE49-F238E27FC236}">
                <a16:creationId xmlns:a16="http://schemas.microsoft.com/office/drawing/2014/main" id="{27204747-6212-F921-2D5B-A3506C9468DA}"/>
              </a:ext>
            </a:extLst>
          </p:cNvPr>
          <p:cNvSpPr/>
          <p:nvPr/>
        </p:nvSpPr>
        <p:spPr>
          <a:xfrm>
            <a:off x="4837175" y="2003774"/>
            <a:ext cx="6869359" cy="3400329"/>
          </a:xfrm>
          <a:prstGeom prst="roundRect">
            <a:avLst>
              <a:gd name="adj" fmla="val 1310"/>
            </a:avLst>
          </a:prstGeom>
          <a:solidFill>
            <a:srgbClr val="EBEAE6"/>
          </a:solidFill>
          <a:ln>
            <a:noFill/>
          </a:ln>
        </p:spPr>
        <p:txBody>
          <a:bodyPr spcFirstLastPara="1" wrap="square" lIns="76188" tIns="76188" rIns="76188" bIns="76188" anchor="ctr" anchorCtr="0">
            <a:noAutofit/>
          </a:bodyPr>
          <a:lstStyle/>
          <a:p>
            <a:pPr lvl="0">
              <a:lnSpc>
                <a:spcPct val="250000"/>
              </a:lnSpc>
            </a:pPr>
            <a:r>
              <a:rPr lang="pl-PL" sz="2000" dirty="0"/>
              <a:t>&gt; </a:t>
            </a:r>
            <a:r>
              <a:rPr lang="pl-PL" sz="2000" dirty="0">
                <a:solidFill>
                  <a:schemeClr val="tx2"/>
                </a:solidFill>
              </a:rPr>
              <a:t>robot</a:t>
            </a:r>
            <a:r>
              <a:rPr lang="pl-PL" sz="2000" dirty="0"/>
              <a:t> tests.robot</a:t>
            </a:r>
          </a:p>
          <a:p>
            <a:pPr lvl="0">
              <a:lnSpc>
                <a:spcPct val="250000"/>
              </a:lnSpc>
            </a:pPr>
            <a:r>
              <a:rPr lang="pl-PL" sz="2000" dirty="0"/>
              <a:t>&gt; </a:t>
            </a:r>
            <a:r>
              <a:rPr lang="pl-PL" sz="2000" dirty="0">
                <a:solidFill>
                  <a:schemeClr val="tx2"/>
                </a:solidFill>
              </a:rPr>
              <a:t>robot</a:t>
            </a:r>
            <a:r>
              <a:rPr lang="pl-PL" sz="2000" dirty="0"/>
              <a:t> path/to/my_tests/</a:t>
            </a:r>
          </a:p>
          <a:p>
            <a:pPr lvl="0">
              <a:lnSpc>
                <a:spcPct val="250000"/>
              </a:lnSpc>
            </a:pPr>
            <a:r>
              <a:rPr lang="pl-PL" sz="2000" dirty="0"/>
              <a:t>&gt; </a:t>
            </a:r>
            <a:r>
              <a:rPr lang="pl-PL" sz="2000" dirty="0">
                <a:solidFill>
                  <a:schemeClr val="tx2"/>
                </a:solidFill>
              </a:rPr>
              <a:t>robot</a:t>
            </a:r>
            <a:r>
              <a:rPr lang="pl-PL" sz="2000" dirty="0"/>
              <a:t> my_tests.robot your_tests.robot</a:t>
            </a:r>
          </a:p>
          <a:p>
            <a:pPr lvl="0">
              <a:lnSpc>
                <a:spcPct val="250000"/>
              </a:lnSpc>
            </a:pPr>
            <a:r>
              <a:rPr lang="pl-PL" sz="2000" dirty="0"/>
              <a:t>&gt; </a:t>
            </a:r>
            <a:r>
              <a:rPr lang="pl-PL" sz="2000" dirty="0">
                <a:solidFill>
                  <a:schemeClr val="tx2"/>
                </a:solidFill>
              </a:rPr>
              <a:t>robot</a:t>
            </a:r>
            <a:r>
              <a:rPr lang="pl-PL" sz="2000" dirty="0"/>
              <a:t> --include smoke –d ./results my_tests.robot</a:t>
            </a:r>
            <a:endParaRPr lang="de-DE" sz="2000" dirty="0"/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764536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C424D636-70ED-C704-6E5F-9981223B0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>
            <a:extLst>
              <a:ext uri="{FF2B5EF4-FFF2-40B4-BE49-F238E27FC236}">
                <a16:creationId xmlns:a16="http://schemas.microsoft.com/office/drawing/2014/main" id="{553990FF-578D-18A3-D870-F9F24DD32090}"/>
              </a:ext>
            </a:extLst>
          </p:cNvPr>
          <p:cNvSpPr/>
          <p:nvPr/>
        </p:nvSpPr>
        <p:spPr>
          <a:xfrm>
            <a:off x="640854" y="2443682"/>
            <a:ext cx="3995154" cy="1341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just"/>
            <a:endParaRPr lang="pl-PL" dirty="0"/>
          </a:p>
          <a:p>
            <a:pPr lvl="0" algn="just"/>
            <a:r>
              <a:rPr lang="pl-PL" dirty="0"/>
              <a:t>Overall, test cases and keywords share the same syntax. </a:t>
            </a:r>
          </a:p>
          <a:p>
            <a:pPr lvl="0" algn="just"/>
            <a:r>
              <a:rPr lang="pl-PL" dirty="0"/>
              <a:t>They differs in options and the section where they are declared.</a:t>
            </a:r>
            <a:endParaRPr lang="de-DE" dirty="0"/>
          </a:p>
          <a:p>
            <a:endParaRPr lang="en-GB" dirty="0"/>
          </a:p>
        </p:txBody>
      </p:sp>
      <p:sp>
        <p:nvSpPr>
          <p:cNvPr id="121" name="Google Shape;121;p19">
            <a:extLst>
              <a:ext uri="{FF2B5EF4-FFF2-40B4-BE49-F238E27FC236}">
                <a16:creationId xmlns:a16="http://schemas.microsoft.com/office/drawing/2014/main" id="{0D50C42A-DF1A-469C-716D-C951CEC14796}"/>
              </a:ext>
            </a:extLst>
          </p:cNvPr>
          <p:cNvSpPr/>
          <p:nvPr/>
        </p:nvSpPr>
        <p:spPr>
          <a:xfrm>
            <a:off x="640854" y="5761732"/>
            <a:ext cx="10910250" cy="13750"/>
          </a:xfrm>
          <a:prstGeom prst="rect">
            <a:avLst/>
          </a:prstGeom>
          <a:solidFill>
            <a:srgbClr val="1C1C18">
              <a:alpha val="50200"/>
            </a:srgbClr>
          </a:solidFill>
          <a:ln>
            <a:noFill/>
          </a:ln>
        </p:spPr>
        <p:txBody>
          <a:bodyPr spcFirstLastPara="1" wrap="square" lIns="76188" tIns="76188" rIns="76188" bIns="76188" anchor="ctr" anchorCtr="0">
            <a:noAutofit/>
          </a:bodyPr>
          <a:lstStyle/>
          <a:p>
            <a:endParaRPr sz="1500"/>
          </a:p>
        </p:txBody>
      </p:sp>
      <p:sp>
        <p:nvSpPr>
          <p:cNvPr id="122" name="Google Shape;122;p19">
            <a:extLst>
              <a:ext uri="{FF2B5EF4-FFF2-40B4-BE49-F238E27FC236}">
                <a16:creationId xmlns:a16="http://schemas.microsoft.com/office/drawing/2014/main" id="{19840559-124B-83EF-3916-71775130E9B2}"/>
              </a:ext>
            </a:extLst>
          </p:cNvPr>
          <p:cNvSpPr/>
          <p:nvPr/>
        </p:nvSpPr>
        <p:spPr>
          <a:xfrm>
            <a:off x="640854" y="6020693"/>
            <a:ext cx="10910250" cy="2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8823"/>
              </a:lnSpc>
              <a:buClr>
                <a:srgbClr val="8A8A85"/>
              </a:buClr>
              <a:buSzPts val="1700"/>
            </a:pPr>
            <a:r>
              <a:rPr lang="pl" sz="1417" dirty="0">
                <a:solidFill>
                  <a:srgbClr val="8A8A85"/>
                </a:solidFill>
                <a:latin typeface="Inter"/>
                <a:ea typeface="Inter"/>
                <a:cs typeface="Inter"/>
                <a:sym typeface="Inter"/>
              </a:rPr>
              <a:t>Igor Czyrski – Nice Project</a:t>
            </a:r>
            <a:endParaRPr sz="1417" dirty="0"/>
          </a:p>
        </p:txBody>
      </p:sp>
      <p:sp>
        <p:nvSpPr>
          <p:cNvPr id="123" name="Google Shape;123;p19">
            <a:extLst>
              <a:ext uri="{FF2B5EF4-FFF2-40B4-BE49-F238E27FC236}">
                <a16:creationId xmlns:a16="http://schemas.microsoft.com/office/drawing/2014/main" id="{B8252B60-311C-5E59-E0CF-B1E535FCF8AB}"/>
              </a:ext>
            </a:extLst>
          </p:cNvPr>
          <p:cNvSpPr/>
          <p:nvPr/>
        </p:nvSpPr>
        <p:spPr>
          <a:xfrm>
            <a:off x="640854" y="700892"/>
            <a:ext cx="4349000" cy="5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4390"/>
              </a:lnSpc>
              <a:buClr>
                <a:srgbClr val="1E00B6"/>
              </a:buClr>
              <a:buSzPts val="4100"/>
            </a:pPr>
            <a:r>
              <a:rPr lang="pl" sz="3417" b="1" dirty="0">
                <a:solidFill>
                  <a:srgbClr val="1E00B6"/>
                </a:solidFill>
                <a:latin typeface="Roboto Mono"/>
                <a:ea typeface="Roboto Mono"/>
                <a:cs typeface="Roboto Mono"/>
                <a:sym typeface="Roboto Mono"/>
              </a:rPr>
              <a:t>TEST CASE &amp; KEYWORDS</a:t>
            </a:r>
            <a:endParaRPr sz="3417" dirty="0"/>
          </a:p>
        </p:txBody>
      </p:sp>
      <p:sp>
        <p:nvSpPr>
          <p:cNvPr id="3" name="Google Shape;117;p19">
            <a:extLst>
              <a:ext uri="{FF2B5EF4-FFF2-40B4-BE49-F238E27FC236}">
                <a16:creationId xmlns:a16="http://schemas.microsoft.com/office/drawing/2014/main" id="{F26D6F89-267E-3A96-7E47-DEBDDD61772E}"/>
              </a:ext>
            </a:extLst>
          </p:cNvPr>
          <p:cNvSpPr/>
          <p:nvPr/>
        </p:nvSpPr>
        <p:spPr>
          <a:xfrm>
            <a:off x="4830397" y="1202231"/>
            <a:ext cx="6857888" cy="1846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8823"/>
              </a:lnSpc>
              <a:buClr>
                <a:srgbClr val="1C1C18"/>
              </a:buClr>
              <a:buSzPts val="1700"/>
            </a:pPr>
            <a:r>
              <a:rPr lang="pl" sz="1417" dirty="0">
                <a:solidFill>
                  <a:srgbClr val="1C1C18"/>
                </a:solidFill>
                <a:highlight>
                  <a:srgbClr val="EBEAE6"/>
                </a:highlight>
                <a:latin typeface="Consolas"/>
                <a:ea typeface="Consolas"/>
                <a:cs typeface="Consolas"/>
                <a:sym typeface="Consolas"/>
              </a:rPr>
              <a:t># robotframework</a:t>
            </a:r>
            <a:endParaRPr sz="1417" dirty="0"/>
          </a:p>
        </p:txBody>
      </p:sp>
      <p:sp>
        <p:nvSpPr>
          <p:cNvPr id="5" name="Google Shape;119;p19">
            <a:extLst>
              <a:ext uri="{FF2B5EF4-FFF2-40B4-BE49-F238E27FC236}">
                <a16:creationId xmlns:a16="http://schemas.microsoft.com/office/drawing/2014/main" id="{E3B58DD4-AB2C-2ED6-01BF-433FBB551244}"/>
              </a:ext>
            </a:extLst>
          </p:cNvPr>
          <p:cNvSpPr/>
          <p:nvPr/>
        </p:nvSpPr>
        <p:spPr>
          <a:xfrm>
            <a:off x="4830397" y="1489603"/>
            <a:ext cx="6869359" cy="4026918"/>
          </a:xfrm>
          <a:prstGeom prst="roundRect">
            <a:avLst>
              <a:gd name="adj" fmla="val 1310"/>
            </a:avLst>
          </a:prstGeom>
          <a:solidFill>
            <a:srgbClr val="EBEAE6"/>
          </a:solidFill>
          <a:ln>
            <a:noFill/>
          </a:ln>
        </p:spPr>
        <p:txBody>
          <a:bodyPr spcFirstLastPara="1" wrap="square" lIns="76188" tIns="76188" rIns="76188" bIns="76188" anchor="ctr" anchorCtr="0">
            <a:noAutofit/>
          </a:bodyPr>
          <a:lstStyle/>
          <a:p>
            <a:pPr lvl="0"/>
            <a:endParaRPr lang="pl-PL" sz="1600" dirty="0">
              <a:solidFill>
                <a:schemeClr val="tx2"/>
              </a:solidFill>
            </a:endParaRPr>
          </a:p>
          <a:p>
            <a:pPr lvl="0"/>
            <a:r>
              <a:rPr lang="pl-PL" sz="1600" dirty="0">
                <a:solidFill>
                  <a:srgbClr val="1E00B6"/>
                </a:solidFill>
              </a:rPr>
              <a:t>*** Test Cases ***</a:t>
            </a:r>
            <a:br>
              <a:rPr lang="pl-PL" sz="1600" dirty="0"/>
            </a:br>
            <a:endParaRPr lang="pl-PL" sz="1600" dirty="0"/>
          </a:p>
          <a:p>
            <a:pPr lvl="0"/>
            <a:r>
              <a:rPr lang="pl-PL" sz="1600" dirty="0"/>
              <a:t>Example test case</a:t>
            </a:r>
          </a:p>
          <a:p>
            <a:pPr lvl="0"/>
            <a:r>
              <a:rPr lang="pl-PL" sz="1600" dirty="0"/>
              <a:t>    [Documentation]	This is documentation</a:t>
            </a:r>
          </a:p>
          <a:p>
            <a:pPr lvl="0"/>
            <a:r>
              <a:rPr lang="pl-PL" sz="1600" dirty="0"/>
              <a:t>    ... 		and it can contains</a:t>
            </a:r>
          </a:p>
          <a:p>
            <a:pPr lvl="0"/>
            <a:r>
              <a:rPr lang="pl-PL" sz="1600" dirty="0"/>
              <a:t>    ...		multilines</a:t>
            </a:r>
          </a:p>
          <a:p>
            <a:pPr lvl="0"/>
            <a:r>
              <a:rPr lang="pl-PL" sz="1600" dirty="0"/>
              <a:t>    [Setup]		Setup keyword</a:t>
            </a:r>
          </a:p>
          <a:p>
            <a:pPr lvl="0"/>
            <a:r>
              <a:rPr lang="pl-PL" sz="1600" dirty="0"/>
              <a:t>    [Tags]		example</a:t>
            </a:r>
          </a:p>
          <a:p>
            <a:pPr lvl="0"/>
            <a:r>
              <a:rPr lang="pl-PL" sz="1600" dirty="0"/>
              <a:t>    [Template]	Keyword that will be used </a:t>
            </a:r>
          </a:p>
          <a:p>
            <a:pPr lvl="0"/>
            <a:r>
              <a:rPr lang="pl-PL" sz="1600" dirty="0"/>
              <a:t>    [Timeout]	1min</a:t>
            </a:r>
          </a:p>
          <a:p>
            <a:pPr lvl="0"/>
            <a:endParaRPr lang="pl-PL" sz="1600" dirty="0"/>
          </a:p>
          <a:p>
            <a:pPr lvl="0"/>
            <a:r>
              <a:rPr lang="pl-PL" sz="1600" dirty="0"/>
              <a:t>    Log		Hello World!</a:t>
            </a:r>
          </a:p>
          <a:p>
            <a:pPr lvl="0"/>
            <a:endParaRPr lang="pl-PL" sz="1600" dirty="0"/>
          </a:p>
          <a:p>
            <a:pPr lvl="0"/>
            <a:r>
              <a:rPr lang="pl-PL" sz="1600" dirty="0"/>
              <a:t>    [Teardown]	Teardown keyword</a:t>
            </a:r>
          </a:p>
          <a:p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5230453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85060EFE-E023-066D-9F22-A42AD0A8A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>
            <a:extLst>
              <a:ext uri="{FF2B5EF4-FFF2-40B4-BE49-F238E27FC236}">
                <a16:creationId xmlns:a16="http://schemas.microsoft.com/office/drawing/2014/main" id="{22A2A13C-D56E-33D4-C485-81CFFAAA49A3}"/>
              </a:ext>
            </a:extLst>
          </p:cNvPr>
          <p:cNvSpPr/>
          <p:nvPr/>
        </p:nvSpPr>
        <p:spPr>
          <a:xfrm>
            <a:off x="640854" y="2443682"/>
            <a:ext cx="3995154" cy="1341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just"/>
            <a:endParaRPr lang="pl-PL" dirty="0"/>
          </a:p>
          <a:p>
            <a:pPr lvl="0" algn="just"/>
            <a:r>
              <a:rPr lang="pl-PL" dirty="0"/>
              <a:t>Overall, test cases and keywords share the same syntax. </a:t>
            </a:r>
          </a:p>
          <a:p>
            <a:pPr lvl="0" algn="just"/>
            <a:r>
              <a:rPr lang="pl-PL" dirty="0"/>
              <a:t>They differs in options and the section where they are declared.</a:t>
            </a:r>
            <a:endParaRPr lang="de-DE" dirty="0"/>
          </a:p>
          <a:p>
            <a:endParaRPr lang="en-GB" dirty="0"/>
          </a:p>
        </p:txBody>
      </p:sp>
      <p:sp>
        <p:nvSpPr>
          <p:cNvPr id="121" name="Google Shape;121;p19">
            <a:extLst>
              <a:ext uri="{FF2B5EF4-FFF2-40B4-BE49-F238E27FC236}">
                <a16:creationId xmlns:a16="http://schemas.microsoft.com/office/drawing/2014/main" id="{702CE793-8ADD-A4B3-339A-6AD281A0E28A}"/>
              </a:ext>
            </a:extLst>
          </p:cNvPr>
          <p:cNvSpPr/>
          <p:nvPr/>
        </p:nvSpPr>
        <p:spPr>
          <a:xfrm>
            <a:off x="640854" y="5761732"/>
            <a:ext cx="10910250" cy="13750"/>
          </a:xfrm>
          <a:prstGeom prst="rect">
            <a:avLst/>
          </a:prstGeom>
          <a:solidFill>
            <a:srgbClr val="1C1C18">
              <a:alpha val="50200"/>
            </a:srgbClr>
          </a:solidFill>
          <a:ln>
            <a:noFill/>
          </a:ln>
        </p:spPr>
        <p:txBody>
          <a:bodyPr spcFirstLastPara="1" wrap="square" lIns="76188" tIns="76188" rIns="76188" bIns="76188" anchor="ctr" anchorCtr="0">
            <a:noAutofit/>
          </a:bodyPr>
          <a:lstStyle/>
          <a:p>
            <a:endParaRPr sz="1500"/>
          </a:p>
        </p:txBody>
      </p:sp>
      <p:sp>
        <p:nvSpPr>
          <p:cNvPr id="122" name="Google Shape;122;p19">
            <a:extLst>
              <a:ext uri="{FF2B5EF4-FFF2-40B4-BE49-F238E27FC236}">
                <a16:creationId xmlns:a16="http://schemas.microsoft.com/office/drawing/2014/main" id="{4157BDE0-60C4-DE3E-06E7-7BE9205A0751}"/>
              </a:ext>
            </a:extLst>
          </p:cNvPr>
          <p:cNvSpPr/>
          <p:nvPr/>
        </p:nvSpPr>
        <p:spPr>
          <a:xfrm>
            <a:off x="640854" y="6020693"/>
            <a:ext cx="10910250" cy="2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8823"/>
              </a:lnSpc>
              <a:buClr>
                <a:srgbClr val="8A8A85"/>
              </a:buClr>
              <a:buSzPts val="1700"/>
            </a:pPr>
            <a:r>
              <a:rPr lang="pl" sz="1417" dirty="0">
                <a:solidFill>
                  <a:srgbClr val="8A8A85"/>
                </a:solidFill>
                <a:latin typeface="Inter"/>
                <a:ea typeface="Inter"/>
                <a:cs typeface="Inter"/>
                <a:sym typeface="Inter"/>
              </a:rPr>
              <a:t>Igor Czyrski – Nice Project</a:t>
            </a:r>
            <a:endParaRPr sz="1417" dirty="0"/>
          </a:p>
        </p:txBody>
      </p:sp>
      <p:sp>
        <p:nvSpPr>
          <p:cNvPr id="123" name="Google Shape;123;p19">
            <a:extLst>
              <a:ext uri="{FF2B5EF4-FFF2-40B4-BE49-F238E27FC236}">
                <a16:creationId xmlns:a16="http://schemas.microsoft.com/office/drawing/2014/main" id="{1D30E75D-B219-7B8F-A3C4-79D6DE19460C}"/>
              </a:ext>
            </a:extLst>
          </p:cNvPr>
          <p:cNvSpPr/>
          <p:nvPr/>
        </p:nvSpPr>
        <p:spPr>
          <a:xfrm>
            <a:off x="640854" y="700892"/>
            <a:ext cx="4349000" cy="5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4390"/>
              </a:lnSpc>
              <a:buClr>
                <a:srgbClr val="1E00B6"/>
              </a:buClr>
              <a:buSzPts val="4100"/>
            </a:pPr>
            <a:r>
              <a:rPr lang="pl" sz="3417" b="1" dirty="0">
                <a:solidFill>
                  <a:srgbClr val="1E00B6"/>
                </a:solidFill>
                <a:latin typeface="Roboto Mono"/>
                <a:ea typeface="Roboto Mono"/>
                <a:cs typeface="Roboto Mono"/>
                <a:sym typeface="Roboto Mono"/>
              </a:rPr>
              <a:t>TEST CASE &amp; KEYWORDS</a:t>
            </a:r>
            <a:endParaRPr sz="3417" dirty="0"/>
          </a:p>
        </p:txBody>
      </p:sp>
      <p:sp>
        <p:nvSpPr>
          <p:cNvPr id="3" name="Google Shape;117;p19">
            <a:extLst>
              <a:ext uri="{FF2B5EF4-FFF2-40B4-BE49-F238E27FC236}">
                <a16:creationId xmlns:a16="http://schemas.microsoft.com/office/drawing/2014/main" id="{66B2223B-B3B6-B9F2-1615-127D941E71EB}"/>
              </a:ext>
            </a:extLst>
          </p:cNvPr>
          <p:cNvSpPr/>
          <p:nvPr/>
        </p:nvSpPr>
        <p:spPr>
          <a:xfrm>
            <a:off x="4830397" y="1202231"/>
            <a:ext cx="6857888" cy="1846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8823"/>
              </a:lnSpc>
              <a:buClr>
                <a:srgbClr val="1C1C18"/>
              </a:buClr>
              <a:buSzPts val="1700"/>
            </a:pPr>
            <a:r>
              <a:rPr lang="pl" sz="1417" dirty="0">
                <a:solidFill>
                  <a:srgbClr val="1C1C18"/>
                </a:solidFill>
                <a:highlight>
                  <a:srgbClr val="EBEAE6"/>
                </a:highlight>
                <a:latin typeface="Consolas"/>
                <a:ea typeface="Consolas"/>
                <a:cs typeface="Consolas"/>
                <a:sym typeface="Consolas"/>
              </a:rPr>
              <a:t># robotframework</a:t>
            </a:r>
            <a:endParaRPr sz="1417" dirty="0"/>
          </a:p>
        </p:txBody>
      </p:sp>
      <p:sp>
        <p:nvSpPr>
          <p:cNvPr id="5" name="Google Shape;119;p19">
            <a:extLst>
              <a:ext uri="{FF2B5EF4-FFF2-40B4-BE49-F238E27FC236}">
                <a16:creationId xmlns:a16="http://schemas.microsoft.com/office/drawing/2014/main" id="{50ED61E0-5F8F-2D0A-C478-FC099B87F55B}"/>
              </a:ext>
            </a:extLst>
          </p:cNvPr>
          <p:cNvSpPr/>
          <p:nvPr/>
        </p:nvSpPr>
        <p:spPr>
          <a:xfrm>
            <a:off x="4830397" y="1489603"/>
            <a:ext cx="6869359" cy="4026918"/>
          </a:xfrm>
          <a:prstGeom prst="roundRect">
            <a:avLst>
              <a:gd name="adj" fmla="val 1310"/>
            </a:avLst>
          </a:prstGeom>
          <a:solidFill>
            <a:srgbClr val="EBEAE6"/>
          </a:solidFill>
          <a:ln>
            <a:noFill/>
          </a:ln>
        </p:spPr>
        <p:txBody>
          <a:bodyPr spcFirstLastPara="1" wrap="square" lIns="76188" tIns="76188" rIns="76188" bIns="76188" anchor="ctr" anchorCtr="0">
            <a:noAutofit/>
          </a:bodyPr>
          <a:lstStyle/>
          <a:p>
            <a:pPr lvl="0"/>
            <a:r>
              <a:rPr lang="pl-PL" sz="1600" dirty="0">
                <a:solidFill>
                  <a:srgbClr val="1E00B6"/>
                </a:solidFill>
              </a:rPr>
              <a:t>*** Keywords ***</a:t>
            </a:r>
            <a:br>
              <a:rPr lang="pl-PL" sz="1600" dirty="0"/>
            </a:br>
            <a:endParaRPr lang="pl-PL" sz="1600" dirty="0"/>
          </a:p>
          <a:p>
            <a:pPr lvl="0"/>
            <a:r>
              <a:rPr lang="pl-PL" sz="1600" dirty="0"/>
              <a:t>Example keyword</a:t>
            </a:r>
          </a:p>
          <a:p>
            <a:pPr lvl="0"/>
            <a:r>
              <a:rPr lang="pl-PL" sz="1600" dirty="0"/>
              <a:t>    [Documentation]	This is documentation</a:t>
            </a:r>
          </a:p>
          <a:p>
            <a:pPr lvl="0"/>
            <a:r>
              <a:rPr lang="pl-PL" sz="1600" dirty="0"/>
              <a:t>    ... 		and it can contains multilines</a:t>
            </a:r>
          </a:p>
          <a:p>
            <a:pPr lvl="0"/>
            <a:r>
              <a:rPr lang="pl-PL" sz="1600" dirty="0"/>
              <a:t>    [Setup]		Setup keyword</a:t>
            </a:r>
          </a:p>
          <a:p>
            <a:pPr lvl="0"/>
            <a:r>
              <a:rPr lang="pl-PL" sz="1600" dirty="0"/>
              <a:t>    [Tags]		example</a:t>
            </a:r>
          </a:p>
          <a:p>
            <a:pPr lvl="0"/>
            <a:r>
              <a:rPr lang="pl-PL" sz="1600" dirty="0"/>
              <a:t>    [Arguments]	${arg}	${default}=value</a:t>
            </a:r>
          </a:p>
          <a:p>
            <a:pPr lvl="0"/>
            <a:r>
              <a:rPr lang="pl-PL" sz="1600" dirty="0"/>
              <a:t>    [Timeout]	1min</a:t>
            </a:r>
          </a:p>
          <a:p>
            <a:pPr lvl="0"/>
            <a:endParaRPr lang="pl-PL" sz="1600" dirty="0"/>
          </a:p>
          <a:p>
            <a:pPr lvl="0"/>
            <a:r>
              <a:rPr lang="pl-PL" sz="1600" dirty="0"/>
              <a:t>    ${sum}		Calculate sum    5    6</a:t>
            </a:r>
          </a:p>
          <a:p>
            <a:pPr lvl="0"/>
            <a:r>
              <a:rPr lang="pl-PL" sz="1600" dirty="0"/>
              <a:t>    RETURN		${sum}</a:t>
            </a:r>
          </a:p>
          <a:p>
            <a:pPr lvl="0"/>
            <a:endParaRPr lang="pl-PL" sz="1600" dirty="0"/>
          </a:p>
          <a:p>
            <a:pPr lvl="0"/>
            <a:r>
              <a:rPr lang="pl-PL" sz="1600" dirty="0"/>
              <a:t>    [Teardown]	Teardown keyword</a:t>
            </a:r>
          </a:p>
        </p:txBody>
      </p:sp>
    </p:spTree>
    <p:extLst>
      <p:ext uri="{BB962C8B-B14F-4D97-AF65-F5344CB8AC3E}">
        <p14:creationId xmlns:p14="http://schemas.microsoft.com/office/powerpoint/2010/main" val="1465967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FF58CB4E-5927-5502-F1F2-CC5A6A3EB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>
            <a:extLst>
              <a:ext uri="{FF2B5EF4-FFF2-40B4-BE49-F238E27FC236}">
                <a16:creationId xmlns:a16="http://schemas.microsoft.com/office/drawing/2014/main" id="{F1B29C94-CC06-80AC-2E3B-7E6C5F4F8A9A}"/>
              </a:ext>
            </a:extLst>
          </p:cNvPr>
          <p:cNvSpPr/>
          <p:nvPr/>
        </p:nvSpPr>
        <p:spPr>
          <a:xfrm>
            <a:off x="640854" y="1707264"/>
            <a:ext cx="3995154" cy="1341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just"/>
            <a:r>
              <a:rPr lang="pl-PL" dirty="0"/>
              <a:t>Variable types:</a:t>
            </a:r>
          </a:p>
          <a:p>
            <a:pPr marL="171446" indent="-171446" algn="just">
              <a:buClr>
                <a:schemeClr val="tx2"/>
              </a:buClr>
              <a:buSzPct val="75000"/>
              <a:buFont typeface="Wingdings" pitchFamily="2"/>
              <a:buChar char="§"/>
            </a:pPr>
            <a:r>
              <a:rPr lang="pl-PL" dirty="0"/>
              <a:t>scalars</a:t>
            </a:r>
          </a:p>
          <a:p>
            <a:pPr marL="171446" indent="-171446" algn="just">
              <a:buClr>
                <a:schemeClr val="tx2"/>
              </a:buClr>
              <a:buSzPct val="75000"/>
              <a:buFont typeface="Wingdings" pitchFamily="2"/>
              <a:buChar char="§"/>
            </a:pPr>
            <a:r>
              <a:rPr lang="pl-PL" dirty="0"/>
              <a:t>lists</a:t>
            </a:r>
          </a:p>
          <a:p>
            <a:pPr marL="171446" indent="-171446" algn="just">
              <a:buClr>
                <a:schemeClr val="tx2"/>
              </a:buClr>
              <a:buSzPct val="75000"/>
              <a:buFont typeface="Wingdings" pitchFamily="2"/>
              <a:buChar char="§"/>
            </a:pPr>
            <a:r>
              <a:rPr lang="pl-PL" dirty="0"/>
              <a:t>dictionaries</a:t>
            </a:r>
          </a:p>
          <a:p>
            <a:pPr marL="171446" indent="-171446" algn="just">
              <a:buClr>
                <a:schemeClr val="tx2"/>
              </a:buClr>
              <a:buSzPct val="75000"/>
              <a:buFont typeface="Wingdings" pitchFamily="2"/>
              <a:buChar char="§"/>
            </a:pPr>
            <a:r>
              <a:rPr lang="pl-PL" dirty="0"/>
              <a:t>environment and built-in variables</a:t>
            </a:r>
          </a:p>
          <a:p>
            <a:pPr lvl="0" algn="just"/>
            <a:endParaRPr lang="pl-PL" dirty="0"/>
          </a:p>
          <a:p>
            <a:pPr lvl="0" algn="just"/>
            <a:r>
              <a:rPr lang="pl-PL" dirty="0"/>
              <a:t>Variables can be created in variables sections, variable files, by using built-in keywords or by VAR syntax. They can be passed through the command line or be returned from keywords. </a:t>
            </a:r>
          </a:p>
          <a:p>
            <a:pPr marL="171446" indent="-171446">
              <a:buFont typeface="Courier Code" panose="02000509000000000000" pitchFamily="49" charset="0"/>
              <a:buChar char="-"/>
            </a:pPr>
            <a:endParaRPr lang="en-GB" dirty="0"/>
          </a:p>
        </p:txBody>
      </p:sp>
      <p:sp>
        <p:nvSpPr>
          <p:cNvPr id="121" name="Google Shape;121;p19">
            <a:extLst>
              <a:ext uri="{FF2B5EF4-FFF2-40B4-BE49-F238E27FC236}">
                <a16:creationId xmlns:a16="http://schemas.microsoft.com/office/drawing/2014/main" id="{06FFC875-957F-7E15-1E8A-8F5039A9D11D}"/>
              </a:ext>
            </a:extLst>
          </p:cNvPr>
          <p:cNvSpPr/>
          <p:nvPr/>
        </p:nvSpPr>
        <p:spPr>
          <a:xfrm>
            <a:off x="640854" y="5761732"/>
            <a:ext cx="10910250" cy="13750"/>
          </a:xfrm>
          <a:prstGeom prst="rect">
            <a:avLst/>
          </a:prstGeom>
          <a:solidFill>
            <a:srgbClr val="1C1C18">
              <a:alpha val="50200"/>
            </a:srgbClr>
          </a:solidFill>
          <a:ln>
            <a:noFill/>
          </a:ln>
        </p:spPr>
        <p:txBody>
          <a:bodyPr spcFirstLastPara="1" wrap="square" lIns="76188" tIns="76188" rIns="76188" bIns="76188" anchor="ctr" anchorCtr="0">
            <a:noAutofit/>
          </a:bodyPr>
          <a:lstStyle/>
          <a:p>
            <a:endParaRPr sz="1500"/>
          </a:p>
        </p:txBody>
      </p:sp>
      <p:sp>
        <p:nvSpPr>
          <p:cNvPr id="122" name="Google Shape;122;p19">
            <a:extLst>
              <a:ext uri="{FF2B5EF4-FFF2-40B4-BE49-F238E27FC236}">
                <a16:creationId xmlns:a16="http://schemas.microsoft.com/office/drawing/2014/main" id="{1C9258DB-8B19-DF0C-7330-5067627E404B}"/>
              </a:ext>
            </a:extLst>
          </p:cNvPr>
          <p:cNvSpPr/>
          <p:nvPr/>
        </p:nvSpPr>
        <p:spPr>
          <a:xfrm>
            <a:off x="640854" y="6020693"/>
            <a:ext cx="10910250" cy="2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8823"/>
              </a:lnSpc>
              <a:buClr>
                <a:srgbClr val="8A8A85"/>
              </a:buClr>
              <a:buSzPts val="1700"/>
            </a:pPr>
            <a:r>
              <a:rPr lang="pl" sz="1417" dirty="0">
                <a:solidFill>
                  <a:srgbClr val="8A8A85"/>
                </a:solidFill>
                <a:latin typeface="Inter"/>
                <a:ea typeface="Inter"/>
                <a:cs typeface="Inter"/>
                <a:sym typeface="Inter"/>
              </a:rPr>
              <a:t>Igor Czyrski – Nice Project</a:t>
            </a:r>
            <a:endParaRPr sz="1417" dirty="0"/>
          </a:p>
        </p:txBody>
      </p:sp>
      <p:sp>
        <p:nvSpPr>
          <p:cNvPr id="123" name="Google Shape;123;p19">
            <a:extLst>
              <a:ext uri="{FF2B5EF4-FFF2-40B4-BE49-F238E27FC236}">
                <a16:creationId xmlns:a16="http://schemas.microsoft.com/office/drawing/2014/main" id="{D952B700-CC4C-597A-2398-EF6FD2268F8B}"/>
              </a:ext>
            </a:extLst>
          </p:cNvPr>
          <p:cNvSpPr/>
          <p:nvPr/>
        </p:nvSpPr>
        <p:spPr>
          <a:xfrm>
            <a:off x="640854" y="700892"/>
            <a:ext cx="4349000" cy="5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4390"/>
              </a:lnSpc>
              <a:buClr>
                <a:srgbClr val="1E00B6"/>
              </a:buClr>
              <a:buSzPts val="4100"/>
            </a:pPr>
            <a:r>
              <a:rPr lang="pl" sz="3417" b="1" dirty="0">
                <a:solidFill>
                  <a:srgbClr val="1E00B6"/>
                </a:solidFill>
                <a:latin typeface="Roboto Mono"/>
                <a:ea typeface="Roboto Mono"/>
                <a:cs typeface="Roboto Mono"/>
                <a:sym typeface="Roboto Mono"/>
              </a:rPr>
              <a:t>VARIABLES</a:t>
            </a:r>
            <a:endParaRPr sz="3417" dirty="0"/>
          </a:p>
        </p:txBody>
      </p:sp>
      <p:sp>
        <p:nvSpPr>
          <p:cNvPr id="3" name="Google Shape;117;p19">
            <a:extLst>
              <a:ext uri="{FF2B5EF4-FFF2-40B4-BE49-F238E27FC236}">
                <a16:creationId xmlns:a16="http://schemas.microsoft.com/office/drawing/2014/main" id="{21FA3E7F-5264-0B6D-CB90-9CC62E8A9C4E}"/>
              </a:ext>
            </a:extLst>
          </p:cNvPr>
          <p:cNvSpPr/>
          <p:nvPr/>
        </p:nvSpPr>
        <p:spPr>
          <a:xfrm>
            <a:off x="4830397" y="1202231"/>
            <a:ext cx="6857888" cy="1846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8823"/>
              </a:lnSpc>
              <a:buClr>
                <a:srgbClr val="1C1C18"/>
              </a:buClr>
              <a:buSzPts val="1700"/>
            </a:pPr>
            <a:r>
              <a:rPr lang="pl" sz="1417" dirty="0">
                <a:solidFill>
                  <a:srgbClr val="1C1C18"/>
                </a:solidFill>
                <a:highlight>
                  <a:srgbClr val="EBEAE6"/>
                </a:highlight>
                <a:latin typeface="Consolas"/>
                <a:ea typeface="Consolas"/>
                <a:cs typeface="Consolas"/>
                <a:sym typeface="Consolas"/>
              </a:rPr>
              <a:t># robotframework</a:t>
            </a:r>
            <a:endParaRPr sz="1417" dirty="0"/>
          </a:p>
        </p:txBody>
      </p:sp>
      <p:sp>
        <p:nvSpPr>
          <p:cNvPr id="5" name="Google Shape;119;p19">
            <a:extLst>
              <a:ext uri="{FF2B5EF4-FFF2-40B4-BE49-F238E27FC236}">
                <a16:creationId xmlns:a16="http://schemas.microsoft.com/office/drawing/2014/main" id="{9CC6DAB2-7027-4F19-22AF-A4265BF0C0DB}"/>
              </a:ext>
            </a:extLst>
          </p:cNvPr>
          <p:cNvSpPr/>
          <p:nvPr/>
        </p:nvSpPr>
        <p:spPr>
          <a:xfrm>
            <a:off x="4830397" y="1489603"/>
            <a:ext cx="6869359" cy="4026918"/>
          </a:xfrm>
          <a:prstGeom prst="roundRect">
            <a:avLst>
              <a:gd name="adj" fmla="val 1310"/>
            </a:avLst>
          </a:prstGeom>
          <a:solidFill>
            <a:srgbClr val="EBEAE6"/>
          </a:solidFill>
          <a:ln>
            <a:noFill/>
          </a:ln>
        </p:spPr>
        <p:txBody>
          <a:bodyPr spcFirstLastPara="1" wrap="square" lIns="76188" tIns="76188" rIns="76188" bIns="76188" anchor="ctr" anchorCtr="0">
            <a:noAutofit/>
          </a:bodyPr>
          <a:lstStyle/>
          <a:p>
            <a:pPr lvl="0"/>
            <a:r>
              <a:rPr lang="pl-PL" sz="1400" dirty="0">
                <a:solidFill>
                  <a:srgbClr val="1E00B6"/>
                </a:solidFill>
              </a:rPr>
              <a:t>*** Variables ***</a:t>
            </a:r>
          </a:p>
          <a:p>
            <a:pPr lvl="0"/>
            <a:r>
              <a:rPr lang="pl-PL" sz="1400" dirty="0"/>
              <a:t>${name}	    Igor</a:t>
            </a:r>
          </a:p>
          <a:p>
            <a:pPr lvl="0"/>
            <a:r>
              <a:rPr lang="pl-PL" sz="1400" dirty="0"/>
              <a:t>@{names	    Adam	    Peter</a:t>
            </a:r>
          </a:p>
          <a:p>
            <a:pPr lvl="0"/>
            <a:r>
              <a:rPr lang="pl-PL" sz="1400" dirty="0"/>
              <a:t>&amp;{user}	    id=1      name=${name}</a:t>
            </a:r>
          </a:p>
          <a:p>
            <a:pPr lvl="0"/>
            <a:r>
              <a:rPr lang="pl-PL" sz="1400" dirty="0"/>
              <a:t>...	    tel_num=123456</a:t>
            </a:r>
          </a:p>
          <a:p>
            <a:pPr lvl="0"/>
            <a:endParaRPr lang="pl-PL" sz="1400" dirty="0"/>
          </a:p>
          <a:p>
            <a:pPr lvl="0"/>
            <a:r>
              <a:rPr lang="pl-PL" sz="1400" dirty="0">
                <a:solidFill>
                  <a:srgbClr val="1E00B6"/>
                </a:solidFill>
              </a:rPr>
              <a:t>*** Keywords ***</a:t>
            </a:r>
          </a:p>
          <a:p>
            <a:pPr lvl="0"/>
            <a:r>
              <a:rPr lang="pl-PL" sz="1400" dirty="0"/>
              <a:t>Play with variable</a:t>
            </a:r>
          </a:p>
          <a:p>
            <a:pPr lvl="0"/>
            <a:r>
              <a:rPr lang="pl-PL" sz="1400" dirty="0"/>
              <a:t>    VAR	     ${hi}     Hello, world!</a:t>
            </a:r>
          </a:p>
          <a:p>
            <a:pPr lvl="0"/>
            <a:r>
              <a:rPr lang="pl-PL" sz="1400" dirty="0"/>
              <a:t>    RETURN	     ${hi}</a:t>
            </a:r>
          </a:p>
          <a:p>
            <a:pPr lvl="0"/>
            <a:endParaRPr lang="pl-PL" sz="1400" dirty="0"/>
          </a:p>
          <a:p>
            <a:pPr lvl="0"/>
            <a:r>
              <a:rPr lang="pl-PL" sz="1400" dirty="0"/>
              <a:t>Built-in, environment and number variables</a:t>
            </a:r>
          </a:p>
          <a:p>
            <a:pPr lvl="0"/>
            <a:r>
              <a:rPr lang="pl-PL" sz="1400" dirty="0"/>
              <a:t>    Log    	${CURDIR}</a:t>
            </a:r>
          </a:p>
          <a:p>
            <a:pPr lvl="0"/>
            <a:r>
              <a:rPr lang="pl-PL" sz="1400" dirty="0"/>
              <a:t>    Log	C:${/}Users${/}Igor</a:t>
            </a:r>
          </a:p>
          <a:p>
            <a:pPr lvl="0"/>
            <a:r>
              <a:rPr lang="pl-PL" sz="1400" dirty="0"/>
              <a:t>    Log 	${5}</a:t>
            </a:r>
          </a:p>
          <a:p>
            <a:pPr lvl="0"/>
            <a:r>
              <a:rPr lang="pl-PL" sz="1400" dirty="0"/>
              <a:t>    Log    	%{USER}</a:t>
            </a:r>
            <a:endParaRPr lang="de-DE" sz="1400" dirty="0"/>
          </a:p>
          <a:p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1907736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6203DF25-6581-FEC8-0263-7EDAD0336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>
            <a:extLst>
              <a:ext uri="{FF2B5EF4-FFF2-40B4-BE49-F238E27FC236}">
                <a16:creationId xmlns:a16="http://schemas.microsoft.com/office/drawing/2014/main" id="{C56F99CC-A292-D95F-1938-D16BA8B0C12B}"/>
              </a:ext>
            </a:extLst>
          </p:cNvPr>
          <p:cNvSpPr/>
          <p:nvPr/>
        </p:nvSpPr>
        <p:spPr>
          <a:xfrm>
            <a:off x="640854" y="1707264"/>
            <a:ext cx="3995154" cy="1341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just"/>
            <a:r>
              <a:rPr lang="pl-PL" dirty="0"/>
              <a:t>There are several methods of defining and using arguments.</a:t>
            </a:r>
          </a:p>
          <a:p>
            <a:pPr marL="171446" indent="-171446" algn="just">
              <a:buClr>
                <a:schemeClr val="tx2"/>
              </a:buClr>
              <a:buSzPct val="75000"/>
              <a:buFont typeface="Wingdings" pitchFamily="2"/>
              <a:buChar char="§"/>
            </a:pPr>
            <a:r>
              <a:rPr lang="pl-PL" dirty="0"/>
              <a:t>Positional arguments</a:t>
            </a:r>
          </a:p>
          <a:p>
            <a:pPr marL="171446" indent="-171446" algn="just">
              <a:buClr>
                <a:schemeClr val="tx2"/>
              </a:buClr>
              <a:buSzPct val="75000"/>
              <a:buFont typeface="Wingdings" pitchFamily="2"/>
              <a:buChar char="§"/>
            </a:pPr>
            <a:r>
              <a:rPr lang="pl-PL" dirty="0"/>
              <a:t>Named arguments</a:t>
            </a:r>
          </a:p>
          <a:p>
            <a:pPr marL="171446" indent="-171446" algn="just">
              <a:buClr>
                <a:schemeClr val="tx2"/>
              </a:buClr>
              <a:buSzPct val="75000"/>
              <a:buFont typeface="Wingdings" pitchFamily="2"/>
              <a:buChar char="§"/>
            </a:pPr>
            <a:r>
              <a:rPr lang="pl-PL" dirty="0"/>
              <a:t>Arguments with default values</a:t>
            </a:r>
          </a:p>
          <a:p>
            <a:pPr marL="171446" indent="-171446" algn="just">
              <a:buClr>
                <a:schemeClr val="tx2"/>
              </a:buClr>
              <a:buSzPct val="75000"/>
              <a:buFont typeface="Wingdings" pitchFamily="2"/>
              <a:buChar char="§"/>
            </a:pPr>
            <a:r>
              <a:rPr lang="pl-PL" dirty="0"/>
              <a:t>Variable number of arguments</a:t>
            </a:r>
          </a:p>
          <a:p>
            <a:pPr marL="171446" indent="-171446" algn="just">
              <a:buClr>
                <a:schemeClr val="tx2"/>
              </a:buClr>
              <a:buSzPct val="75000"/>
              <a:buFont typeface="Wingdings" pitchFamily="2"/>
              <a:buChar char="§"/>
            </a:pPr>
            <a:r>
              <a:rPr lang="pl-PL" dirty="0"/>
              <a:t>Free named arguments</a:t>
            </a:r>
          </a:p>
          <a:p>
            <a:pPr marL="171446" indent="-171446" algn="just">
              <a:buClr>
                <a:schemeClr val="tx2"/>
              </a:buClr>
              <a:buSzPct val="75000"/>
              <a:buFont typeface="Wingdings" pitchFamily="2"/>
              <a:buChar char="§"/>
            </a:pPr>
            <a:r>
              <a:rPr lang="pl-PL" dirty="0"/>
              <a:t>Embedding arguments into keyword name</a:t>
            </a:r>
            <a:endParaRPr lang="en-US" dirty="0"/>
          </a:p>
          <a:p>
            <a:endParaRPr lang="en-GB" dirty="0"/>
          </a:p>
        </p:txBody>
      </p:sp>
      <p:sp>
        <p:nvSpPr>
          <p:cNvPr id="121" name="Google Shape;121;p19">
            <a:extLst>
              <a:ext uri="{FF2B5EF4-FFF2-40B4-BE49-F238E27FC236}">
                <a16:creationId xmlns:a16="http://schemas.microsoft.com/office/drawing/2014/main" id="{DBE68B91-CA76-6BB6-61A1-3AFE8B83C246}"/>
              </a:ext>
            </a:extLst>
          </p:cNvPr>
          <p:cNvSpPr/>
          <p:nvPr/>
        </p:nvSpPr>
        <p:spPr>
          <a:xfrm>
            <a:off x="640854" y="5761732"/>
            <a:ext cx="10910250" cy="13750"/>
          </a:xfrm>
          <a:prstGeom prst="rect">
            <a:avLst/>
          </a:prstGeom>
          <a:solidFill>
            <a:srgbClr val="1C1C18">
              <a:alpha val="50200"/>
            </a:srgbClr>
          </a:solidFill>
          <a:ln>
            <a:noFill/>
          </a:ln>
        </p:spPr>
        <p:txBody>
          <a:bodyPr spcFirstLastPara="1" wrap="square" lIns="76188" tIns="76188" rIns="76188" bIns="76188" anchor="ctr" anchorCtr="0">
            <a:noAutofit/>
          </a:bodyPr>
          <a:lstStyle/>
          <a:p>
            <a:endParaRPr sz="1500"/>
          </a:p>
        </p:txBody>
      </p:sp>
      <p:sp>
        <p:nvSpPr>
          <p:cNvPr id="122" name="Google Shape;122;p19">
            <a:extLst>
              <a:ext uri="{FF2B5EF4-FFF2-40B4-BE49-F238E27FC236}">
                <a16:creationId xmlns:a16="http://schemas.microsoft.com/office/drawing/2014/main" id="{35F12E8B-E0DA-1340-3CBD-D7A9FCCE71A7}"/>
              </a:ext>
            </a:extLst>
          </p:cNvPr>
          <p:cNvSpPr/>
          <p:nvPr/>
        </p:nvSpPr>
        <p:spPr>
          <a:xfrm>
            <a:off x="640854" y="6020693"/>
            <a:ext cx="10910250" cy="2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8823"/>
              </a:lnSpc>
              <a:buClr>
                <a:srgbClr val="8A8A85"/>
              </a:buClr>
              <a:buSzPts val="1700"/>
            </a:pPr>
            <a:r>
              <a:rPr lang="pl" sz="1417" dirty="0">
                <a:solidFill>
                  <a:srgbClr val="8A8A85"/>
                </a:solidFill>
                <a:latin typeface="Inter"/>
                <a:ea typeface="Inter"/>
                <a:cs typeface="Inter"/>
                <a:sym typeface="Inter"/>
              </a:rPr>
              <a:t>Igor Czyrski – Nice Project</a:t>
            </a:r>
            <a:endParaRPr sz="1417" dirty="0"/>
          </a:p>
        </p:txBody>
      </p:sp>
      <p:sp>
        <p:nvSpPr>
          <p:cNvPr id="123" name="Google Shape;123;p19">
            <a:extLst>
              <a:ext uri="{FF2B5EF4-FFF2-40B4-BE49-F238E27FC236}">
                <a16:creationId xmlns:a16="http://schemas.microsoft.com/office/drawing/2014/main" id="{4C585190-A58E-4F43-5233-EDC953506B13}"/>
              </a:ext>
            </a:extLst>
          </p:cNvPr>
          <p:cNvSpPr/>
          <p:nvPr/>
        </p:nvSpPr>
        <p:spPr>
          <a:xfrm>
            <a:off x="640854" y="700892"/>
            <a:ext cx="4349000" cy="5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4390"/>
              </a:lnSpc>
              <a:buClr>
                <a:srgbClr val="1E00B6"/>
              </a:buClr>
              <a:buSzPts val="4100"/>
            </a:pPr>
            <a:r>
              <a:rPr lang="pl" sz="3417" b="1" dirty="0">
                <a:solidFill>
                  <a:srgbClr val="1E00B6"/>
                </a:solidFill>
                <a:latin typeface="Roboto Mono"/>
                <a:ea typeface="Roboto Mono"/>
                <a:cs typeface="Roboto Mono"/>
                <a:sym typeface="Roboto Mono"/>
              </a:rPr>
              <a:t>USING ARGUMENTS</a:t>
            </a:r>
            <a:endParaRPr sz="3417" dirty="0"/>
          </a:p>
        </p:txBody>
      </p:sp>
      <p:sp>
        <p:nvSpPr>
          <p:cNvPr id="3" name="Google Shape;117;p19">
            <a:extLst>
              <a:ext uri="{FF2B5EF4-FFF2-40B4-BE49-F238E27FC236}">
                <a16:creationId xmlns:a16="http://schemas.microsoft.com/office/drawing/2014/main" id="{D368F950-C4F2-3AEC-C6A2-F431FE683961}"/>
              </a:ext>
            </a:extLst>
          </p:cNvPr>
          <p:cNvSpPr/>
          <p:nvPr/>
        </p:nvSpPr>
        <p:spPr>
          <a:xfrm>
            <a:off x="4830397" y="1202231"/>
            <a:ext cx="6857888" cy="1846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8823"/>
              </a:lnSpc>
              <a:buClr>
                <a:srgbClr val="1C1C18"/>
              </a:buClr>
              <a:buSzPts val="1700"/>
            </a:pPr>
            <a:r>
              <a:rPr lang="pl" sz="1417" dirty="0">
                <a:solidFill>
                  <a:srgbClr val="1C1C18"/>
                </a:solidFill>
                <a:highlight>
                  <a:srgbClr val="EBEAE6"/>
                </a:highlight>
                <a:latin typeface="Consolas"/>
                <a:ea typeface="Consolas"/>
                <a:cs typeface="Consolas"/>
                <a:sym typeface="Consolas"/>
              </a:rPr>
              <a:t># robotframework</a:t>
            </a:r>
            <a:endParaRPr sz="1417" dirty="0"/>
          </a:p>
        </p:txBody>
      </p:sp>
      <p:sp>
        <p:nvSpPr>
          <p:cNvPr id="5" name="Google Shape;119;p19">
            <a:extLst>
              <a:ext uri="{FF2B5EF4-FFF2-40B4-BE49-F238E27FC236}">
                <a16:creationId xmlns:a16="http://schemas.microsoft.com/office/drawing/2014/main" id="{7B528A0C-6A41-1AC6-C913-02A41A646491}"/>
              </a:ext>
            </a:extLst>
          </p:cNvPr>
          <p:cNvSpPr/>
          <p:nvPr/>
        </p:nvSpPr>
        <p:spPr>
          <a:xfrm>
            <a:off x="4830397" y="1489603"/>
            <a:ext cx="6869359" cy="4166166"/>
          </a:xfrm>
          <a:prstGeom prst="roundRect">
            <a:avLst>
              <a:gd name="adj" fmla="val 1310"/>
            </a:avLst>
          </a:prstGeom>
          <a:solidFill>
            <a:srgbClr val="EBEAE6"/>
          </a:solidFill>
          <a:ln>
            <a:noFill/>
          </a:ln>
        </p:spPr>
        <p:txBody>
          <a:bodyPr spcFirstLastPara="1" wrap="square" lIns="76188" tIns="76188" rIns="76188" bIns="76188" anchor="ctr" anchorCtr="0">
            <a:noAutofit/>
          </a:bodyPr>
          <a:lstStyle/>
          <a:p>
            <a:pPr lvl="0"/>
            <a:r>
              <a:rPr lang="pl-PL" sz="1200" dirty="0">
                <a:solidFill>
                  <a:srgbClr val="1E00B6"/>
                </a:solidFill>
              </a:rPr>
              <a:t>*** Test cases ***</a:t>
            </a:r>
          </a:p>
          <a:p>
            <a:pPr lvl="0"/>
            <a:r>
              <a:rPr lang="pl-PL" sz="1200" dirty="0"/>
              <a:t>Embedded arguments</a:t>
            </a:r>
          </a:p>
          <a:p>
            <a:pPr lvl="0"/>
            <a:r>
              <a:rPr lang="pl-PL" sz="1200" dirty="0"/>
              <a:t>      Select cat from list</a:t>
            </a:r>
          </a:p>
          <a:p>
            <a:pPr lvl="0"/>
            <a:r>
              <a:rPr lang="pl-PL" sz="1200" dirty="0"/>
              <a:t>      Select dog from list</a:t>
            </a:r>
          </a:p>
          <a:p>
            <a:pPr lvl="0"/>
            <a:endParaRPr lang="pl-PL" sz="1200" dirty="0"/>
          </a:p>
          <a:p>
            <a:pPr lvl="0"/>
            <a:r>
              <a:rPr lang="pl-PL" sz="1200" dirty="0">
                <a:solidFill>
                  <a:srgbClr val="1E00B6"/>
                </a:solidFill>
              </a:rPr>
              <a:t>*** Keywords ***</a:t>
            </a:r>
          </a:p>
          <a:p>
            <a:pPr lvl="0"/>
            <a:r>
              <a:rPr lang="pl-PL" sz="1200" dirty="0"/>
              <a:t>Three positional arguments</a:t>
            </a:r>
          </a:p>
          <a:p>
            <a:pPr lvl="0"/>
            <a:r>
              <a:rPr lang="pl-PL" sz="1200" dirty="0"/>
              <a:t>      [Arguments]     ${arg1}     ${arg2}     ${arg3}</a:t>
            </a:r>
          </a:p>
          <a:p>
            <a:pPr lvl="0"/>
            <a:r>
              <a:rPr lang="pl-PL" sz="1200" dirty="0"/>
              <a:t>      Log	   First: ${arg1}, second: ${arg2}, third: ${arg3}</a:t>
            </a:r>
          </a:p>
          <a:p>
            <a:pPr lvl="0"/>
            <a:endParaRPr lang="pl-PL" sz="1200" dirty="0"/>
          </a:p>
          <a:p>
            <a:pPr lvl="0"/>
            <a:r>
              <a:rPr lang="pl-PL" sz="1200" dirty="0"/>
              <a:t>Named arguments and one with a default</a:t>
            </a:r>
          </a:p>
          <a:p>
            <a:pPr lvl="0"/>
            <a:r>
              <a:rPr lang="pl-PL" sz="1200" dirty="0"/>
              <a:t>      [Arguments]     required=${required}     ${optional}=default</a:t>
            </a:r>
          </a:p>
          <a:p>
            <a:pPr lvl="0"/>
            <a:r>
              <a:rPr lang="pl-PL" sz="1200" dirty="0"/>
              <a:t>      Log     Required: ${required}, optional: ${optional}</a:t>
            </a:r>
          </a:p>
          <a:p>
            <a:pPr lvl="0"/>
            <a:endParaRPr lang="pl-PL" sz="1200" dirty="0"/>
          </a:p>
          <a:p>
            <a:pPr lvl="0"/>
            <a:r>
              <a:rPr lang="pl-PL" sz="1200" dirty="0"/>
              <a:t>Any number of arguments</a:t>
            </a:r>
          </a:p>
          <a:p>
            <a:pPr lvl="0"/>
            <a:r>
              <a:rPr lang="pl-PL" sz="1200" dirty="0"/>
              <a:t>      [Arguments]   @{varargs}</a:t>
            </a:r>
          </a:p>
          <a:p>
            <a:pPr lvl="0"/>
            <a:r>
              <a:rPr lang="pl-PL" sz="1200" dirty="0"/>
              <a:t>      Log Many   @{varargs}</a:t>
            </a:r>
          </a:p>
          <a:p>
            <a:pPr lvl="0"/>
            <a:endParaRPr lang="pl-PL" sz="1200" dirty="0"/>
          </a:p>
          <a:p>
            <a:pPr lvl="0"/>
            <a:r>
              <a:rPr lang="pl-PL" sz="1200" dirty="0"/>
              <a:t>Select </a:t>
            </a:r>
            <a:r>
              <a:rPr lang="pl-PL" sz="1200" dirty="0">
                <a:solidFill>
                  <a:schemeClr val="tx2"/>
                </a:solidFill>
              </a:rPr>
              <a:t>${animal} </a:t>
            </a:r>
            <a:r>
              <a:rPr lang="pl-PL" sz="1200" dirty="0"/>
              <a:t>from list</a:t>
            </a:r>
          </a:p>
          <a:p>
            <a:pPr lvl="0"/>
            <a:r>
              <a:rPr lang="pl-PL" sz="1200" dirty="0"/>
              <a:t>      Select items from from list    animal_list    ${animal}</a:t>
            </a:r>
          </a:p>
          <a:p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23257917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4BEE4C84-DF22-F085-B6B6-EE5663B2F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>
            <a:extLst>
              <a:ext uri="{FF2B5EF4-FFF2-40B4-BE49-F238E27FC236}">
                <a16:creationId xmlns:a16="http://schemas.microsoft.com/office/drawing/2014/main" id="{E2A1C970-E15E-5EF9-3ACB-0E46B65F0357}"/>
              </a:ext>
            </a:extLst>
          </p:cNvPr>
          <p:cNvSpPr/>
          <p:nvPr/>
        </p:nvSpPr>
        <p:spPr>
          <a:xfrm>
            <a:off x="640854" y="1707264"/>
            <a:ext cx="3995154" cy="1341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just"/>
            <a:r>
              <a:rPr lang="pl-PL" dirty="0"/>
              <a:t>Contains variables that can be used in the test data. C</a:t>
            </a:r>
            <a:r>
              <a:rPr lang="en-US" dirty="0"/>
              <a:t>an be imported in the settings section or via the command line</a:t>
            </a:r>
            <a:r>
              <a:rPr lang="pl-PL" dirty="0"/>
              <a:t>.</a:t>
            </a:r>
          </a:p>
          <a:p>
            <a:pPr lvl="0" algn="just"/>
            <a:endParaRPr lang="pl-PL" dirty="0"/>
          </a:p>
          <a:p>
            <a:pPr marL="171446" indent="-171446" algn="just">
              <a:buClr>
                <a:schemeClr val="tx2"/>
              </a:buClr>
              <a:buSzPct val="75000"/>
              <a:buFont typeface="Wingdings" pitchFamily="2"/>
              <a:buChar char="§"/>
            </a:pPr>
            <a:r>
              <a:rPr lang="pl-PL" dirty="0"/>
              <a:t>.py</a:t>
            </a:r>
          </a:p>
          <a:p>
            <a:pPr marL="171446" indent="-171446" algn="just">
              <a:buClr>
                <a:schemeClr val="tx2"/>
              </a:buClr>
              <a:buSzPct val="75000"/>
              <a:buFont typeface="Wingdings" pitchFamily="2"/>
              <a:buChar char="§"/>
            </a:pPr>
            <a:r>
              <a:rPr lang="pl-PL" dirty="0"/>
              <a:t>.yaml</a:t>
            </a:r>
          </a:p>
          <a:p>
            <a:pPr marL="171446" indent="-171446" algn="just">
              <a:buClr>
                <a:schemeClr val="tx2"/>
              </a:buClr>
              <a:buSzPct val="75000"/>
              <a:buFont typeface="Wingdings" pitchFamily="2"/>
              <a:buChar char="§"/>
            </a:pPr>
            <a:r>
              <a:rPr lang="pl-PL" dirty="0"/>
              <a:t>.json</a:t>
            </a:r>
          </a:p>
          <a:p>
            <a:endParaRPr lang="en-GB" dirty="0"/>
          </a:p>
        </p:txBody>
      </p:sp>
      <p:sp>
        <p:nvSpPr>
          <p:cNvPr id="121" name="Google Shape;121;p19">
            <a:extLst>
              <a:ext uri="{FF2B5EF4-FFF2-40B4-BE49-F238E27FC236}">
                <a16:creationId xmlns:a16="http://schemas.microsoft.com/office/drawing/2014/main" id="{9F95998A-B06C-999E-AC11-EB19C7DCC472}"/>
              </a:ext>
            </a:extLst>
          </p:cNvPr>
          <p:cNvSpPr/>
          <p:nvPr/>
        </p:nvSpPr>
        <p:spPr>
          <a:xfrm>
            <a:off x="640854" y="5761732"/>
            <a:ext cx="10910250" cy="13750"/>
          </a:xfrm>
          <a:prstGeom prst="rect">
            <a:avLst/>
          </a:prstGeom>
          <a:solidFill>
            <a:srgbClr val="1C1C18">
              <a:alpha val="50200"/>
            </a:srgbClr>
          </a:solidFill>
          <a:ln>
            <a:noFill/>
          </a:ln>
        </p:spPr>
        <p:txBody>
          <a:bodyPr spcFirstLastPara="1" wrap="square" lIns="76188" tIns="76188" rIns="76188" bIns="76188" anchor="ctr" anchorCtr="0">
            <a:noAutofit/>
          </a:bodyPr>
          <a:lstStyle/>
          <a:p>
            <a:endParaRPr sz="1500"/>
          </a:p>
        </p:txBody>
      </p:sp>
      <p:sp>
        <p:nvSpPr>
          <p:cNvPr id="122" name="Google Shape;122;p19">
            <a:extLst>
              <a:ext uri="{FF2B5EF4-FFF2-40B4-BE49-F238E27FC236}">
                <a16:creationId xmlns:a16="http://schemas.microsoft.com/office/drawing/2014/main" id="{06092F3A-C83E-41DA-1590-E16F78613DF9}"/>
              </a:ext>
            </a:extLst>
          </p:cNvPr>
          <p:cNvSpPr/>
          <p:nvPr/>
        </p:nvSpPr>
        <p:spPr>
          <a:xfrm>
            <a:off x="640854" y="6020693"/>
            <a:ext cx="10910250" cy="2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8823"/>
              </a:lnSpc>
              <a:buClr>
                <a:srgbClr val="8A8A85"/>
              </a:buClr>
              <a:buSzPts val="1700"/>
            </a:pPr>
            <a:r>
              <a:rPr lang="pl" sz="1417" dirty="0">
                <a:solidFill>
                  <a:srgbClr val="8A8A85"/>
                </a:solidFill>
                <a:latin typeface="Inter"/>
                <a:ea typeface="Inter"/>
                <a:cs typeface="Inter"/>
                <a:sym typeface="Inter"/>
              </a:rPr>
              <a:t>Igor Czyrski – Nice Project</a:t>
            </a:r>
            <a:endParaRPr sz="1417" dirty="0"/>
          </a:p>
        </p:txBody>
      </p:sp>
      <p:sp>
        <p:nvSpPr>
          <p:cNvPr id="123" name="Google Shape;123;p19">
            <a:extLst>
              <a:ext uri="{FF2B5EF4-FFF2-40B4-BE49-F238E27FC236}">
                <a16:creationId xmlns:a16="http://schemas.microsoft.com/office/drawing/2014/main" id="{9C3C830F-55AA-C8A6-7F12-72C1D1E8D6CF}"/>
              </a:ext>
            </a:extLst>
          </p:cNvPr>
          <p:cNvSpPr/>
          <p:nvPr/>
        </p:nvSpPr>
        <p:spPr>
          <a:xfrm>
            <a:off x="640854" y="700892"/>
            <a:ext cx="4349000" cy="5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4390"/>
              </a:lnSpc>
              <a:buClr>
                <a:srgbClr val="1E00B6"/>
              </a:buClr>
              <a:buSzPts val="4100"/>
            </a:pPr>
            <a:r>
              <a:rPr lang="pl" sz="3417" b="1" dirty="0">
                <a:solidFill>
                  <a:srgbClr val="1E00B6"/>
                </a:solidFill>
                <a:latin typeface="Roboto Mono"/>
                <a:ea typeface="Roboto Mono"/>
                <a:cs typeface="Roboto Mono"/>
                <a:sym typeface="Roboto Mono"/>
              </a:rPr>
              <a:t>VARIABLE FILES</a:t>
            </a:r>
            <a:endParaRPr sz="3417" dirty="0"/>
          </a:p>
        </p:txBody>
      </p:sp>
      <p:sp>
        <p:nvSpPr>
          <p:cNvPr id="3" name="Google Shape;117;p19">
            <a:extLst>
              <a:ext uri="{FF2B5EF4-FFF2-40B4-BE49-F238E27FC236}">
                <a16:creationId xmlns:a16="http://schemas.microsoft.com/office/drawing/2014/main" id="{0A7B3131-9DB0-5C76-97EB-AF5AAA759A79}"/>
              </a:ext>
            </a:extLst>
          </p:cNvPr>
          <p:cNvSpPr/>
          <p:nvPr/>
        </p:nvSpPr>
        <p:spPr>
          <a:xfrm>
            <a:off x="4830397" y="1202231"/>
            <a:ext cx="6857888" cy="1846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8823"/>
              </a:lnSpc>
              <a:buClr>
                <a:srgbClr val="1C1C18"/>
              </a:buClr>
              <a:buSzPts val="1700"/>
            </a:pPr>
            <a:r>
              <a:rPr lang="pl" sz="1417" dirty="0">
                <a:solidFill>
                  <a:srgbClr val="1C1C18"/>
                </a:solidFill>
                <a:highlight>
                  <a:srgbClr val="EBEAE6"/>
                </a:highlight>
                <a:latin typeface="Consolas"/>
                <a:ea typeface="Consolas"/>
                <a:cs typeface="Consolas"/>
                <a:sym typeface="Consolas"/>
              </a:rPr>
              <a:t># robotframework</a:t>
            </a:r>
            <a:endParaRPr sz="1417" dirty="0"/>
          </a:p>
        </p:txBody>
      </p:sp>
      <p:sp>
        <p:nvSpPr>
          <p:cNvPr id="5" name="Google Shape;119;p19">
            <a:extLst>
              <a:ext uri="{FF2B5EF4-FFF2-40B4-BE49-F238E27FC236}">
                <a16:creationId xmlns:a16="http://schemas.microsoft.com/office/drawing/2014/main" id="{11110E21-F7DF-8D3C-81F1-3D7C0BC564D7}"/>
              </a:ext>
            </a:extLst>
          </p:cNvPr>
          <p:cNvSpPr/>
          <p:nvPr/>
        </p:nvSpPr>
        <p:spPr>
          <a:xfrm>
            <a:off x="4830397" y="1489603"/>
            <a:ext cx="6869359" cy="1846966"/>
          </a:xfrm>
          <a:prstGeom prst="roundRect">
            <a:avLst>
              <a:gd name="adj" fmla="val 1310"/>
            </a:avLst>
          </a:prstGeom>
          <a:solidFill>
            <a:srgbClr val="EBEAE6"/>
          </a:solidFill>
          <a:ln>
            <a:noFill/>
          </a:ln>
        </p:spPr>
        <p:txBody>
          <a:bodyPr spcFirstLastPara="1" wrap="square" lIns="76188" tIns="76188" rIns="76188" bIns="76188" anchor="ctr" anchorCtr="0">
            <a:noAutofit/>
          </a:bodyPr>
          <a:lstStyle/>
          <a:p>
            <a:pPr lvl="0"/>
            <a:endParaRPr lang="pl-PL" sz="1200" dirty="0"/>
          </a:p>
          <a:p>
            <a:pPr lvl="0"/>
            <a:r>
              <a:rPr lang="pl-PL" sz="1200" dirty="0">
                <a:solidFill>
                  <a:schemeClr val="tx2"/>
                </a:solidFill>
              </a:rPr>
              <a:t>*** Settings ***</a:t>
            </a:r>
          </a:p>
          <a:p>
            <a:pPr lvl="0"/>
            <a:r>
              <a:rPr lang="pl-PL" sz="1200" dirty="0"/>
              <a:t>Variables		myvariables.py</a:t>
            </a:r>
          </a:p>
          <a:p>
            <a:pPr lvl="0"/>
            <a:r>
              <a:rPr lang="pl-PL" sz="1200" dirty="0"/>
              <a:t>Variables		../data/variables.yaml</a:t>
            </a:r>
          </a:p>
          <a:p>
            <a:pPr lvl="0"/>
            <a:endParaRPr lang="pl-PL" sz="1200" dirty="0"/>
          </a:p>
          <a:p>
            <a:pPr lvl="0"/>
            <a:endParaRPr lang="pl-PL" sz="1200" dirty="0"/>
          </a:p>
          <a:p>
            <a:pPr lvl="0"/>
            <a:endParaRPr lang="pl-PL" sz="1200" dirty="0"/>
          </a:p>
          <a:p>
            <a:pPr lvl="0"/>
            <a:r>
              <a:rPr lang="pl-PL" sz="1200" dirty="0"/>
              <a:t>&gt; --variablefile C:\path\var.json</a:t>
            </a:r>
            <a:endParaRPr lang="en-US" sz="1200" dirty="0"/>
          </a:p>
          <a:p>
            <a:endParaRPr lang="en-GB" sz="1200" dirty="0"/>
          </a:p>
        </p:txBody>
      </p:sp>
      <p:sp>
        <p:nvSpPr>
          <p:cNvPr id="4" name="Google Shape;119;p19">
            <a:extLst>
              <a:ext uri="{FF2B5EF4-FFF2-40B4-BE49-F238E27FC236}">
                <a16:creationId xmlns:a16="http://schemas.microsoft.com/office/drawing/2014/main" id="{CF27D2F3-C436-D5D0-C269-FD5CE0525C8D}"/>
              </a:ext>
            </a:extLst>
          </p:cNvPr>
          <p:cNvSpPr/>
          <p:nvPr/>
        </p:nvSpPr>
        <p:spPr>
          <a:xfrm>
            <a:off x="4830397" y="3669555"/>
            <a:ext cx="6869359" cy="1846966"/>
          </a:xfrm>
          <a:prstGeom prst="roundRect">
            <a:avLst>
              <a:gd name="adj" fmla="val 1310"/>
            </a:avLst>
          </a:prstGeom>
          <a:solidFill>
            <a:srgbClr val="EBEAE6"/>
          </a:solidFill>
          <a:ln>
            <a:noFill/>
          </a:ln>
        </p:spPr>
        <p:txBody>
          <a:bodyPr spcFirstLastPara="1" wrap="square" lIns="76188" tIns="76188" rIns="76188" bIns="76188" anchor="ctr" anchorCtr="0">
            <a:noAutofit/>
          </a:bodyPr>
          <a:lstStyle/>
          <a:p>
            <a:pPr lvl="0"/>
            <a:endParaRPr lang="pl-PL" sz="1200" dirty="0"/>
          </a:p>
          <a:p>
            <a:pPr lvl="0"/>
            <a:r>
              <a:rPr lang="pl-PL" sz="1200" dirty="0"/>
              <a:t>&gt; robot  --variablefile C:\path\var.json my_test.robot</a:t>
            </a:r>
            <a:endParaRPr lang="en-US" sz="1200" dirty="0"/>
          </a:p>
          <a:p>
            <a:endParaRPr lang="en-GB" sz="1200" dirty="0"/>
          </a:p>
        </p:txBody>
      </p:sp>
      <p:sp>
        <p:nvSpPr>
          <p:cNvPr id="7" name="Google Shape;117;p19">
            <a:extLst>
              <a:ext uri="{FF2B5EF4-FFF2-40B4-BE49-F238E27FC236}">
                <a16:creationId xmlns:a16="http://schemas.microsoft.com/office/drawing/2014/main" id="{DE370BFA-8D44-54DA-04B5-8CDECB8055B1}"/>
              </a:ext>
            </a:extLst>
          </p:cNvPr>
          <p:cNvSpPr/>
          <p:nvPr/>
        </p:nvSpPr>
        <p:spPr>
          <a:xfrm>
            <a:off x="4830397" y="3382183"/>
            <a:ext cx="6857888" cy="1846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8823"/>
              </a:lnSpc>
              <a:buClr>
                <a:srgbClr val="1C1C18"/>
              </a:buClr>
              <a:buSzPts val="1700"/>
            </a:pPr>
            <a:r>
              <a:rPr lang="pl" sz="1417" dirty="0">
                <a:solidFill>
                  <a:srgbClr val="1C1C18"/>
                </a:solidFill>
                <a:highlight>
                  <a:srgbClr val="EBEAE6"/>
                </a:highlight>
                <a:latin typeface="Consolas"/>
                <a:ea typeface="Consolas"/>
                <a:cs typeface="Consolas"/>
                <a:sym typeface="Consolas"/>
              </a:rPr>
              <a:t># terminal</a:t>
            </a:r>
            <a:endParaRPr sz="1417" dirty="0"/>
          </a:p>
        </p:txBody>
      </p:sp>
    </p:spTree>
    <p:extLst>
      <p:ext uri="{BB962C8B-B14F-4D97-AF65-F5344CB8AC3E}">
        <p14:creationId xmlns:p14="http://schemas.microsoft.com/office/powerpoint/2010/main" val="41879071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46FB7608-EB1B-12AC-840F-C2F1DA32C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>
            <a:extLst>
              <a:ext uri="{FF2B5EF4-FFF2-40B4-BE49-F238E27FC236}">
                <a16:creationId xmlns:a16="http://schemas.microsoft.com/office/drawing/2014/main" id="{C48BAE03-1B76-34DE-0CE1-E047B7B97017}"/>
              </a:ext>
            </a:extLst>
          </p:cNvPr>
          <p:cNvSpPr/>
          <p:nvPr/>
        </p:nvSpPr>
        <p:spPr>
          <a:xfrm>
            <a:off x="640854" y="5761732"/>
            <a:ext cx="10910250" cy="13750"/>
          </a:xfrm>
          <a:prstGeom prst="rect">
            <a:avLst/>
          </a:prstGeom>
          <a:solidFill>
            <a:srgbClr val="1C1C18">
              <a:alpha val="50200"/>
            </a:srgbClr>
          </a:solidFill>
          <a:ln>
            <a:noFill/>
          </a:ln>
        </p:spPr>
        <p:txBody>
          <a:bodyPr spcFirstLastPara="1" wrap="square" lIns="76188" tIns="76188" rIns="76188" bIns="76188" anchor="ctr" anchorCtr="0">
            <a:noAutofit/>
          </a:bodyPr>
          <a:lstStyle/>
          <a:p>
            <a:endParaRPr sz="1500"/>
          </a:p>
        </p:txBody>
      </p:sp>
      <p:sp>
        <p:nvSpPr>
          <p:cNvPr id="122" name="Google Shape;122;p19">
            <a:extLst>
              <a:ext uri="{FF2B5EF4-FFF2-40B4-BE49-F238E27FC236}">
                <a16:creationId xmlns:a16="http://schemas.microsoft.com/office/drawing/2014/main" id="{905DAB41-4F5A-52C4-D585-55299F33B97E}"/>
              </a:ext>
            </a:extLst>
          </p:cNvPr>
          <p:cNvSpPr/>
          <p:nvPr/>
        </p:nvSpPr>
        <p:spPr>
          <a:xfrm>
            <a:off x="640854" y="6020693"/>
            <a:ext cx="10910250" cy="2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8823"/>
              </a:lnSpc>
              <a:buClr>
                <a:srgbClr val="8A8A85"/>
              </a:buClr>
              <a:buSzPts val="1700"/>
            </a:pPr>
            <a:r>
              <a:rPr lang="pl" sz="1417" dirty="0">
                <a:solidFill>
                  <a:srgbClr val="8A8A85"/>
                </a:solidFill>
                <a:latin typeface="Inter"/>
                <a:ea typeface="Inter"/>
                <a:cs typeface="Inter"/>
                <a:sym typeface="Inter"/>
              </a:rPr>
              <a:t>Igor Czyrski – Nice Project</a:t>
            </a:r>
            <a:endParaRPr sz="1417" dirty="0"/>
          </a:p>
        </p:txBody>
      </p:sp>
      <p:sp>
        <p:nvSpPr>
          <p:cNvPr id="123" name="Google Shape;123;p19">
            <a:extLst>
              <a:ext uri="{FF2B5EF4-FFF2-40B4-BE49-F238E27FC236}">
                <a16:creationId xmlns:a16="http://schemas.microsoft.com/office/drawing/2014/main" id="{7A78317C-EB6A-EEE7-881D-74BC9C5A5AA7}"/>
              </a:ext>
            </a:extLst>
          </p:cNvPr>
          <p:cNvSpPr/>
          <p:nvPr/>
        </p:nvSpPr>
        <p:spPr>
          <a:xfrm>
            <a:off x="723150" y="548807"/>
            <a:ext cx="4349000" cy="5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4390"/>
              </a:lnSpc>
              <a:buClr>
                <a:srgbClr val="1E00B6"/>
              </a:buClr>
              <a:buSzPts val="4100"/>
            </a:pPr>
            <a:r>
              <a:rPr lang="pl" sz="3417" b="1" dirty="0">
                <a:solidFill>
                  <a:srgbClr val="1E00B6"/>
                </a:solidFill>
                <a:latin typeface="Roboto Mono"/>
                <a:ea typeface="Roboto Mono"/>
                <a:cs typeface="Roboto Mono"/>
                <a:sym typeface="Roboto Mono"/>
              </a:rPr>
              <a:t>HOW TO USE VARIABLES</a:t>
            </a:r>
            <a:endParaRPr sz="3417" dirty="0"/>
          </a:p>
        </p:txBody>
      </p:sp>
      <p:sp>
        <p:nvSpPr>
          <p:cNvPr id="5" name="Google Shape;119;p19">
            <a:extLst>
              <a:ext uri="{FF2B5EF4-FFF2-40B4-BE49-F238E27FC236}">
                <a16:creationId xmlns:a16="http://schemas.microsoft.com/office/drawing/2014/main" id="{DB4CC7CD-7EAB-B26E-A6FB-F35D5C7B05D8}"/>
              </a:ext>
            </a:extLst>
          </p:cNvPr>
          <p:cNvSpPr/>
          <p:nvPr/>
        </p:nvSpPr>
        <p:spPr>
          <a:xfrm>
            <a:off x="813854" y="1984248"/>
            <a:ext cx="9564586" cy="3465575"/>
          </a:xfrm>
          <a:prstGeom prst="roundRect">
            <a:avLst>
              <a:gd name="adj" fmla="val 1310"/>
            </a:avLst>
          </a:prstGeom>
          <a:solidFill>
            <a:srgbClr val="EBEAE6"/>
          </a:solidFill>
          <a:ln>
            <a:noFill/>
          </a:ln>
        </p:spPr>
        <p:txBody>
          <a:bodyPr spcFirstLastPara="1" wrap="square" lIns="76188" tIns="76188" rIns="76188" bIns="76188" anchor="ctr" anchorCtr="0">
            <a:noAutofit/>
          </a:bodyPr>
          <a:lstStyle/>
          <a:p>
            <a:endParaRPr lang="en-GB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B15B5F-CE81-5AC1-0651-0914FEBD1180}"/>
              </a:ext>
            </a:extLst>
          </p:cNvPr>
          <p:cNvSpPr txBox="1"/>
          <p:nvPr/>
        </p:nvSpPr>
        <p:spPr>
          <a:xfrm>
            <a:off x="1179428" y="2267000"/>
            <a:ext cx="4221442" cy="1384995"/>
          </a:xfrm>
          <a:prstGeom prst="rect">
            <a:avLst/>
          </a:prstGeom>
          <a:noFill/>
          <a:ln w="31750">
            <a:noFill/>
          </a:ln>
        </p:spPr>
        <p:txBody>
          <a:bodyPr wrap="square" rtlCol="0">
            <a:spAutoFit/>
          </a:bodyPr>
          <a:lstStyle/>
          <a:p>
            <a:r>
              <a:rPr lang="pl-PL" sz="1050" b="1" dirty="0">
                <a:solidFill>
                  <a:schemeClr val="tx2"/>
                </a:solidFill>
                <a:latin typeface="Courier Code"/>
              </a:rPr>
              <a:t>string:     </a:t>
            </a:r>
            <a:r>
              <a:rPr lang="pl-PL" sz="1050" dirty="0">
                <a:latin typeface="Courier Code"/>
              </a:rPr>
              <a:t>Hello, world!</a:t>
            </a:r>
          </a:p>
          <a:p>
            <a:r>
              <a:rPr lang="pl-PL" sz="1050" b="1" dirty="0">
                <a:solidFill>
                  <a:schemeClr val="tx2"/>
                </a:solidFill>
                <a:latin typeface="Courier Code"/>
              </a:rPr>
              <a:t>integer:    </a:t>
            </a:r>
            <a:r>
              <a:rPr lang="pl-PL" sz="1050" dirty="0">
                <a:latin typeface="Courier Code"/>
              </a:rPr>
              <a:t>42</a:t>
            </a:r>
          </a:p>
          <a:p>
            <a:r>
              <a:rPr lang="pl-PL" sz="1050" b="1" dirty="0">
                <a:solidFill>
                  <a:schemeClr val="tx2"/>
                </a:solidFill>
                <a:latin typeface="Courier Code"/>
              </a:rPr>
              <a:t>list:</a:t>
            </a:r>
          </a:p>
          <a:p>
            <a:r>
              <a:rPr lang="pl-PL" sz="1050" dirty="0">
                <a:solidFill>
                  <a:schemeClr val="accent6"/>
                </a:solidFill>
                <a:latin typeface="Courier Code"/>
              </a:rPr>
              <a:t>    </a:t>
            </a:r>
            <a:r>
              <a:rPr lang="pl-PL" sz="1050" dirty="0">
                <a:latin typeface="Courier Code"/>
              </a:rPr>
              <a:t>- one</a:t>
            </a:r>
          </a:p>
          <a:p>
            <a:r>
              <a:rPr lang="pl-PL" sz="1050" dirty="0">
                <a:latin typeface="Courier Code"/>
              </a:rPr>
              <a:t>    - two</a:t>
            </a:r>
          </a:p>
          <a:p>
            <a:r>
              <a:rPr lang="pl-PL" sz="1050" b="1" dirty="0">
                <a:solidFill>
                  <a:schemeClr val="tx2"/>
                </a:solidFill>
                <a:latin typeface="Courier Code"/>
              </a:rPr>
              <a:t>dict:</a:t>
            </a:r>
          </a:p>
          <a:p>
            <a:r>
              <a:rPr lang="pl-PL" sz="1050" dirty="0">
                <a:solidFill>
                  <a:srgbClr val="BF71FF"/>
                </a:solidFill>
                <a:latin typeface="Courier Code"/>
              </a:rPr>
              <a:t>    </a:t>
            </a:r>
            <a:r>
              <a:rPr lang="pl-PL" sz="1050" b="1" dirty="0">
                <a:solidFill>
                  <a:schemeClr val="tx2"/>
                </a:solidFill>
                <a:latin typeface="Courier Code"/>
              </a:rPr>
              <a:t>one:</a:t>
            </a:r>
            <a:r>
              <a:rPr lang="pl-PL" sz="1050" b="1" dirty="0">
                <a:solidFill>
                  <a:srgbClr val="BF71FF"/>
                </a:solidFill>
                <a:latin typeface="Courier Code"/>
              </a:rPr>
              <a:t> </a:t>
            </a:r>
            <a:r>
              <a:rPr lang="pl-PL" sz="1050" dirty="0">
                <a:latin typeface="Courier Code"/>
              </a:rPr>
              <a:t>yksi</a:t>
            </a:r>
          </a:p>
          <a:p>
            <a:r>
              <a:rPr lang="pl-PL" sz="1050" dirty="0">
                <a:solidFill>
                  <a:schemeClr val="accent6"/>
                </a:solidFill>
                <a:latin typeface="Courier Code"/>
              </a:rPr>
              <a:t>    </a:t>
            </a:r>
            <a:r>
              <a:rPr lang="pl-PL" sz="1050" b="1" dirty="0">
                <a:solidFill>
                  <a:schemeClr val="tx2"/>
                </a:solidFill>
                <a:latin typeface="Courier Code"/>
              </a:rPr>
              <a:t>two:</a:t>
            </a:r>
            <a:r>
              <a:rPr lang="pl-PL" sz="1050" b="1" dirty="0">
                <a:solidFill>
                  <a:srgbClr val="BF71FF"/>
                </a:solidFill>
                <a:latin typeface="Courier Code"/>
              </a:rPr>
              <a:t> </a:t>
            </a:r>
            <a:r>
              <a:rPr lang="pl-PL" sz="1050" dirty="0">
                <a:latin typeface="Courier Code"/>
              </a:rPr>
              <a:t>kaksi</a:t>
            </a:r>
            <a:r>
              <a:rPr lang="pl-PL" sz="1050" dirty="0">
                <a:solidFill>
                  <a:schemeClr val="bg1"/>
                </a:solidFill>
                <a:latin typeface="Courier Code"/>
              </a:rPr>
              <a:t>	</a:t>
            </a:r>
            <a:endParaRPr lang="en-US" sz="1050" dirty="0">
              <a:solidFill>
                <a:schemeClr val="bg1"/>
              </a:solidFill>
              <a:latin typeface="Courier Code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6E6225-7B59-9974-67E0-7E79F9A636D7}"/>
              </a:ext>
            </a:extLst>
          </p:cNvPr>
          <p:cNvSpPr txBox="1"/>
          <p:nvPr/>
        </p:nvSpPr>
        <p:spPr>
          <a:xfrm>
            <a:off x="4731591" y="2155039"/>
            <a:ext cx="4525347" cy="1708160"/>
          </a:xfrm>
          <a:prstGeom prst="rect">
            <a:avLst/>
          </a:prstGeom>
          <a:noFill/>
          <a:ln w="31750">
            <a:noFill/>
          </a:ln>
        </p:spPr>
        <p:txBody>
          <a:bodyPr wrap="square" rtlCol="0">
            <a:spAutoFit/>
          </a:bodyPr>
          <a:lstStyle/>
          <a:p>
            <a:r>
              <a:rPr lang="pl-PL" sz="1050" b="1" dirty="0">
                <a:solidFill>
                  <a:schemeClr val="tx2"/>
                </a:solidFill>
                <a:latin typeface="Courier Code"/>
              </a:rPr>
              <a:t>{</a:t>
            </a:r>
          </a:p>
          <a:p>
            <a:r>
              <a:rPr lang="pl-PL" sz="1050" b="1" dirty="0">
                <a:solidFill>
                  <a:srgbClr val="BF71FF"/>
                </a:solidFill>
                <a:latin typeface="Courier Code"/>
              </a:rPr>
              <a:t>    </a:t>
            </a:r>
            <a:r>
              <a:rPr lang="pl-PL" sz="1050" b="1" dirty="0">
                <a:solidFill>
                  <a:schemeClr val="tx2"/>
                </a:solidFill>
                <a:latin typeface="Courier Code"/>
              </a:rPr>
              <a:t>”string”: </a:t>
            </a:r>
            <a:r>
              <a:rPr lang="pl-PL" sz="1050" dirty="0">
                <a:latin typeface="Courier Code"/>
              </a:rPr>
              <a:t>”Hello, world!”,</a:t>
            </a:r>
            <a:endParaRPr lang="pl-PL" sz="1050" b="1" dirty="0">
              <a:latin typeface="Courier Code"/>
            </a:endParaRPr>
          </a:p>
          <a:p>
            <a:r>
              <a:rPr lang="pl-PL" sz="1050" b="1" dirty="0">
                <a:solidFill>
                  <a:schemeClr val="accent4"/>
                </a:solidFill>
                <a:latin typeface="Courier Code"/>
              </a:rPr>
              <a:t>    </a:t>
            </a:r>
            <a:r>
              <a:rPr lang="pl-PL" sz="1050" b="1" dirty="0">
                <a:solidFill>
                  <a:schemeClr val="tx2"/>
                </a:solidFill>
                <a:latin typeface="Courier Code"/>
              </a:rPr>
              <a:t>”integer”: </a:t>
            </a:r>
            <a:r>
              <a:rPr lang="pl-PL" sz="1050" dirty="0">
                <a:latin typeface="Courier Code"/>
              </a:rPr>
              <a:t>42</a:t>
            </a:r>
            <a:r>
              <a:rPr lang="pl-PL" sz="1050" b="1" dirty="0">
                <a:latin typeface="Courier Code"/>
              </a:rPr>
              <a:t>,</a:t>
            </a:r>
          </a:p>
          <a:p>
            <a:r>
              <a:rPr lang="pl-PL" sz="1050" b="1" dirty="0">
                <a:solidFill>
                  <a:srgbClr val="BF71FF"/>
                </a:solidFill>
                <a:latin typeface="Courier Code"/>
              </a:rPr>
              <a:t>    </a:t>
            </a:r>
            <a:r>
              <a:rPr lang="pl-PL" sz="1050" b="1" dirty="0">
                <a:solidFill>
                  <a:schemeClr val="tx2"/>
                </a:solidFill>
                <a:latin typeface="Courier Code"/>
              </a:rPr>
              <a:t>”list”: [</a:t>
            </a:r>
          </a:p>
          <a:p>
            <a:r>
              <a:rPr lang="pl-PL" sz="1050" b="1" dirty="0">
                <a:solidFill>
                  <a:schemeClr val="accent4"/>
                </a:solidFill>
                <a:latin typeface="Courier Code"/>
              </a:rPr>
              <a:t>        </a:t>
            </a:r>
            <a:r>
              <a:rPr lang="pl-PL" sz="1050" dirty="0">
                <a:latin typeface="Courier Code"/>
              </a:rPr>
              <a:t>”one”</a:t>
            </a:r>
            <a:r>
              <a:rPr lang="pl-PL" sz="1050" b="1" dirty="0">
                <a:latin typeface="Courier Code"/>
              </a:rPr>
              <a:t>,</a:t>
            </a:r>
          </a:p>
          <a:p>
            <a:r>
              <a:rPr lang="pl-PL" sz="1050" b="1" dirty="0">
                <a:solidFill>
                  <a:schemeClr val="accent4"/>
                </a:solidFill>
                <a:latin typeface="Courier Code"/>
              </a:rPr>
              <a:t>        </a:t>
            </a:r>
            <a:r>
              <a:rPr lang="pl-PL" sz="1050" dirty="0">
                <a:latin typeface="Courier Code"/>
              </a:rPr>
              <a:t>”two”</a:t>
            </a:r>
            <a:r>
              <a:rPr lang="pl-PL" sz="1050" b="1" dirty="0">
                <a:solidFill>
                  <a:schemeClr val="tx2"/>
                </a:solidFill>
                <a:latin typeface="Courier Code"/>
              </a:rPr>
              <a:t>]</a:t>
            </a:r>
            <a:r>
              <a:rPr lang="pl-PL" sz="1050" b="1" dirty="0">
                <a:latin typeface="Courier Code"/>
              </a:rPr>
              <a:t>,</a:t>
            </a:r>
          </a:p>
          <a:p>
            <a:r>
              <a:rPr lang="pl-PL" sz="1050" b="1" dirty="0">
                <a:solidFill>
                  <a:srgbClr val="BF71FF"/>
                </a:solidFill>
                <a:latin typeface="Courier Code"/>
              </a:rPr>
              <a:t>    </a:t>
            </a:r>
            <a:r>
              <a:rPr lang="pl-PL" sz="1050" b="1" dirty="0">
                <a:solidFill>
                  <a:schemeClr val="tx2"/>
                </a:solidFill>
                <a:latin typeface="Courier Code"/>
              </a:rPr>
              <a:t>”dict”: {</a:t>
            </a:r>
          </a:p>
          <a:p>
            <a:r>
              <a:rPr lang="pl-PL" sz="1050" b="1" dirty="0">
                <a:solidFill>
                  <a:schemeClr val="accent4"/>
                </a:solidFill>
                <a:latin typeface="Courier Code"/>
              </a:rPr>
              <a:t>        </a:t>
            </a:r>
            <a:r>
              <a:rPr lang="pl-PL" sz="1050" b="1" dirty="0">
                <a:solidFill>
                  <a:schemeClr val="tx2"/>
                </a:solidFill>
                <a:latin typeface="Courier Code"/>
              </a:rPr>
              <a:t>”one”: </a:t>
            </a:r>
            <a:r>
              <a:rPr lang="pl-PL" sz="1050" dirty="0">
                <a:latin typeface="Courier Code"/>
              </a:rPr>
              <a:t>”yksi”,</a:t>
            </a:r>
            <a:endParaRPr lang="pl-PL" sz="1050" b="1" dirty="0">
              <a:latin typeface="Courier Code"/>
            </a:endParaRPr>
          </a:p>
          <a:p>
            <a:r>
              <a:rPr lang="pl-PL" sz="1050" b="1" dirty="0">
                <a:solidFill>
                  <a:schemeClr val="accent4"/>
                </a:solidFill>
                <a:latin typeface="Courier Code"/>
              </a:rPr>
              <a:t>        </a:t>
            </a:r>
            <a:r>
              <a:rPr lang="pl-PL" sz="1050" b="1" dirty="0">
                <a:solidFill>
                  <a:schemeClr val="tx2"/>
                </a:solidFill>
                <a:latin typeface="Courier Code"/>
              </a:rPr>
              <a:t>”two”: </a:t>
            </a:r>
            <a:r>
              <a:rPr lang="pl-PL" sz="1050" dirty="0">
                <a:latin typeface="Courier Code"/>
              </a:rPr>
              <a:t>”kaksi”</a:t>
            </a:r>
            <a:r>
              <a:rPr lang="pl-PL" sz="1050" dirty="0">
                <a:solidFill>
                  <a:schemeClr val="tx2"/>
                </a:solidFill>
                <a:latin typeface="Courier Code"/>
              </a:rPr>
              <a:t>}</a:t>
            </a:r>
            <a:endParaRPr lang="pl-PL" sz="1050" b="1" dirty="0">
              <a:solidFill>
                <a:schemeClr val="tx2"/>
              </a:solidFill>
              <a:latin typeface="Courier Code"/>
            </a:endParaRPr>
          </a:p>
          <a:p>
            <a:r>
              <a:rPr lang="pl-PL" sz="1050" b="1" dirty="0">
                <a:solidFill>
                  <a:schemeClr val="tx2"/>
                </a:solidFill>
                <a:latin typeface="Courier Code"/>
              </a:rPr>
              <a:t>}</a:t>
            </a:r>
            <a:r>
              <a:rPr lang="pl-PL" sz="1050" b="1" dirty="0">
                <a:solidFill>
                  <a:schemeClr val="bg1"/>
                </a:solidFill>
                <a:latin typeface="Courier Code"/>
              </a:rPr>
              <a:t>	</a:t>
            </a:r>
            <a:endParaRPr lang="en-US" sz="1050" b="1" dirty="0">
              <a:solidFill>
                <a:schemeClr val="bg1"/>
              </a:solidFill>
              <a:latin typeface="Courier Code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1CEA21-6ED0-18C9-8A6F-9D8948CDD09B}"/>
              </a:ext>
            </a:extLst>
          </p:cNvPr>
          <p:cNvSpPr txBox="1"/>
          <p:nvPr/>
        </p:nvSpPr>
        <p:spPr>
          <a:xfrm>
            <a:off x="1179428" y="4143761"/>
            <a:ext cx="759783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>
                <a:solidFill>
                  <a:srgbClr val="1E00B6"/>
                </a:solidFill>
                <a:latin typeface="Courier Code"/>
              </a:rPr>
              <a:t>*** Variables ***</a:t>
            </a:r>
          </a:p>
          <a:p>
            <a:r>
              <a:rPr lang="pl-PL" sz="1400" dirty="0">
                <a:latin typeface="Courier Code"/>
              </a:rPr>
              <a:t>${STRING}	Hello, World!</a:t>
            </a:r>
          </a:p>
          <a:p>
            <a:r>
              <a:rPr lang="pl-PL" sz="1400" dirty="0">
                <a:latin typeface="Courier Code"/>
              </a:rPr>
              <a:t>${INTEGER}	${42}</a:t>
            </a:r>
          </a:p>
          <a:p>
            <a:r>
              <a:rPr lang="pl-PL" sz="1400" dirty="0">
                <a:latin typeface="Courier Code"/>
              </a:rPr>
              <a:t>@{LIST}	one	two</a:t>
            </a:r>
          </a:p>
          <a:p>
            <a:r>
              <a:rPr lang="pl-PL" sz="1400" dirty="0">
                <a:latin typeface="Courier Code"/>
              </a:rPr>
              <a:t>&amp;{DICT}	one=yksi	two=kaksi</a:t>
            </a:r>
            <a:r>
              <a:rPr lang="pl-PL" sz="1400" dirty="0">
                <a:solidFill>
                  <a:schemeClr val="bg1"/>
                </a:solidFill>
                <a:latin typeface="Courier Code"/>
              </a:rPr>
              <a:t>		</a:t>
            </a:r>
            <a:endParaRPr lang="en-US" sz="1400" dirty="0">
              <a:solidFill>
                <a:schemeClr val="bg1"/>
              </a:solidFill>
              <a:latin typeface="Courier Code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42CBC1A-EDD1-48A4-8C46-9536992D7989}"/>
              </a:ext>
            </a:extLst>
          </p:cNvPr>
          <p:cNvCxnSpPr>
            <a:cxnSpLocks/>
          </p:cNvCxnSpPr>
          <p:nvPr/>
        </p:nvCxnSpPr>
        <p:spPr>
          <a:xfrm>
            <a:off x="1282026" y="4000538"/>
            <a:ext cx="8575206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85689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0940BA03-D716-D686-6D10-A3AF1808F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>
            <a:extLst>
              <a:ext uri="{FF2B5EF4-FFF2-40B4-BE49-F238E27FC236}">
                <a16:creationId xmlns:a16="http://schemas.microsoft.com/office/drawing/2014/main" id="{3F869ABB-7635-2533-2712-2650BEE1BD6D}"/>
              </a:ext>
            </a:extLst>
          </p:cNvPr>
          <p:cNvSpPr/>
          <p:nvPr/>
        </p:nvSpPr>
        <p:spPr>
          <a:xfrm>
            <a:off x="640854" y="2161128"/>
            <a:ext cx="3995154" cy="1341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just"/>
            <a:r>
              <a:rPr lang="en-US" dirty="0"/>
              <a:t>The Robot Framework offers various types of code execution control structures.</a:t>
            </a:r>
            <a:r>
              <a:rPr lang="pl-PL" dirty="0"/>
              <a:t> These structures are familiar from most programming languages</a:t>
            </a:r>
          </a:p>
          <a:p>
            <a:pPr algn="just"/>
            <a:endParaRPr lang="pl-PL" dirty="0"/>
          </a:p>
          <a:p>
            <a:pPr marL="171446" indent="-171446" algn="just"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</a:pPr>
            <a:r>
              <a:rPr lang="pl-PL" dirty="0"/>
              <a:t>for loops</a:t>
            </a:r>
          </a:p>
          <a:p>
            <a:pPr marL="171446" indent="-171446" algn="just"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</a:pPr>
            <a:r>
              <a:rPr lang="pl-PL" dirty="0"/>
              <a:t>while loops</a:t>
            </a:r>
          </a:p>
          <a:p>
            <a:pPr marL="171446" indent="-171446" algn="just"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</a:pPr>
            <a:r>
              <a:rPr lang="pl-PL" dirty="0"/>
              <a:t>if/else</a:t>
            </a:r>
          </a:p>
          <a:p>
            <a:pPr marL="171446" indent="-171446" algn="just"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</a:pPr>
            <a:r>
              <a:rPr lang="pl-PL" dirty="0"/>
              <a:t>try/except</a:t>
            </a:r>
            <a:endParaRPr lang="en-US" dirty="0"/>
          </a:p>
          <a:p>
            <a:pPr marL="171446" indent="-171446">
              <a:buFont typeface="Courier Code" panose="02000509000000000000" pitchFamily="49" charset="0"/>
              <a:buChar char="-"/>
            </a:pPr>
            <a:endParaRPr lang="en-GB" dirty="0"/>
          </a:p>
        </p:txBody>
      </p:sp>
      <p:sp>
        <p:nvSpPr>
          <p:cNvPr id="121" name="Google Shape;121;p19">
            <a:extLst>
              <a:ext uri="{FF2B5EF4-FFF2-40B4-BE49-F238E27FC236}">
                <a16:creationId xmlns:a16="http://schemas.microsoft.com/office/drawing/2014/main" id="{76C4E45A-85D4-920B-E85C-B648C422AFA8}"/>
              </a:ext>
            </a:extLst>
          </p:cNvPr>
          <p:cNvSpPr/>
          <p:nvPr/>
        </p:nvSpPr>
        <p:spPr>
          <a:xfrm>
            <a:off x="640854" y="5761732"/>
            <a:ext cx="10910250" cy="13750"/>
          </a:xfrm>
          <a:prstGeom prst="rect">
            <a:avLst/>
          </a:prstGeom>
          <a:solidFill>
            <a:srgbClr val="1C1C18">
              <a:alpha val="50200"/>
            </a:srgbClr>
          </a:solidFill>
          <a:ln>
            <a:noFill/>
          </a:ln>
        </p:spPr>
        <p:txBody>
          <a:bodyPr spcFirstLastPara="1" wrap="square" lIns="76188" tIns="76188" rIns="76188" bIns="76188" anchor="ctr" anchorCtr="0">
            <a:noAutofit/>
          </a:bodyPr>
          <a:lstStyle/>
          <a:p>
            <a:endParaRPr sz="1500"/>
          </a:p>
        </p:txBody>
      </p:sp>
      <p:sp>
        <p:nvSpPr>
          <p:cNvPr id="122" name="Google Shape;122;p19">
            <a:extLst>
              <a:ext uri="{FF2B5EF4-FFF2-40B4-BE49-F238E27FC236}">
                <a16:creationId xmlns:a16="http://schemas.microsoft.com/office/drawing/2014/main" id="{D0172733-EF25-674D-2CC5-F48637F49E06}"/>
              </a:ext>
            </a:extLst>
          </p:cNvPr>
          <p:cNvSpPr/>
          <p:nvPr/>
        </p:nvSpPr>
        <p:spPr>
          <a:xfrm>
            <a:off x="640854" y="6020693"/>
            <a:ext cx="10910250" cy="2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8823"/>
              </a:lnSpc>
              <a:buClr>
                <a:srgbClr val="8A8A85"/>
              </a:buClr>
              <a:buSzPts val="1700"/>
            </a:pPr>
            <a:r>
              <a:rPr lang="pl" sz="1417" dirty="0">
                <a:solidFill>
                  <a:srgbClr val="8A8A85"/>
                </a:solidFill>
                <a:latin typeface="Inter"/>
                <a:ea typeface="Inter"/>
                <a:cs typeface="Inter"/>
                <a:sym typeface="Inter"/>
              </a:rPr>
              <a:t>Igor Czyrski – Nice Project</a:t>
            </a:r>
            <a:endParaRPr sz="1417" dirty="0"/>
          </a:p>
        </p:txBody>
      </p:sp>
      <p:sp>
        <p:nvSpPr>
          <p:cNvPr id="123" name="Google Shape;123;p19">
            <a:extLst>
              <a:ext uri="{FF2B5EF4-FFF2-40B4-BE49-F238E27FC236}">
                <a16:creationId xmlns:a16="http://schemas.microsoft.com/office/drawing/2014/main" id="{F5122387-1C8B-FB1C-04CA-766FFD92C3B7}"/>
              </a:ext>
            </a:extLst>
          </p:cNvPr>
          <p:cNvSpPr/>
          <p:nvPr/>
        </p:nvSpPr>
        <p:spPr>
          <a:xfrm>
            <a:off x="640854" y="700892"/>
            <a:ext cx="4349000" cy="5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4390"/>
              </a:lnSpc>
              <a:buClr>
                <a:srgbClr val="1E00B6"/>
              </a:buClr>
              <a:buSzPts val="4100"/>
            </a:pPr>
            <a:r>
              <a:rPr lang="pl" sz="3417" b="1" dirty="0">
                <a:solidFill>
                  <a:srgbClr val="1E00B6"/>
                </a:solidFill>
                <a:latin typeface="Roboto Mono"/>
                <a:ea typeface="Roboto Mono"/>
                <a:cs typeface="Roboto Mono"/>
                <a:sym typeface="Roboto Mono"/>
              </a:rPr>
              <a:t>CONTROL STRUCTURES</a:t>
            </a:r>
            <a:endParaRPr sz="3417" dirty="0"/>
          </a:p>
        </p:txBody>
      </p:sp>
      <p:sp>
        <p:nvSpPr>
          <p:cNvPr id="3" name="Google Shape;117;p19">
            <a:extLst>
              <a:ext uri="{FF2B5EF4-FFF2-40B4-BE49-F238E27FC236}">
                <a16:creationId xmlns:a16="http://schemas.microsoft.com/office/drawing/2014/main" id="{6B371311-DB65-EB11-307C-CAF81ADDD614}"/>
              </a:ext>
            </a:extLst>
          </p:cNvPr>
          <p:cNvSpPr/>
          <p:nvPr/>
        </p:nvSpPr>
        <p:spPr>
          <a:xfrm>
            <a:off x="4830397" y="1202231"/>
            <a:ext cx="6857888" cy="1846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8823"/>
              </a:lnSpc>
              <a:buClr>
                <a:srgbClr val="1C1C18"/>
              </a:buClr>
              <a:buSzPts val="1700"/>
            </a:pPr>
            <a:r>
              <a:rPr lang="pl" sz="1417" dirty="0">
                <a:solidFill>
                  <a:srgbClr val="1C1C18"/>
                </a:solidFill>
                <a:highlight>
                  <a:srgbClr val="EBEAE6"/>
                </a:highlight>
                <a:latin typeface="Consolas"/>
                <a:ea typeface="Consolas"/>
                <a:cs typeface="Consolas"/>
                <a:sym typeface="Consolas"/>
              </a:rPr>
              <a:t># robotframework</a:t>
            </a:r>
            <a:endParaRPr sz="1417" dirty="0"/>
          </a:p>
        </p:txBody>
      </p:sp>
      <p:sp>
        <p:nvSpPr>
          <p:cNvPr id="5" name="Google Shape;119;p19">
            <a:extLst>
              <a:ext uri="{FF2B5EF4-FFF2-40B4-BE49-F238E27FC236}">
                <a16:creationId xmlns:a16="http://schemas.microsoft.com/office/drawing/2014/main" id="{7C7E913D-8922-F5B9-DF1B-16D8230BB35D}"/>
              </a:ext>
            </a:extLst>
          </p:cNvPr>
          <p:cNvSpPr/>
          <p:nvPr/>
        </p:nvSpPr>
        <p:spPr>
          <a:xfrm>
            <a:off x="4830397" y="1489603"/>
            <a:ext cx="6869359" cy="4166166"/>
          </a:xfrm>
          <a:prstGeom prst="roundRect">
            <a:avLst>
              <a:gd name="adj" fmla="val 1310"/>
            </a:avLst>
          </a:prstGeom>
          <a:solidFill>
            <a:srgbClr val="EBEAE6"/>
          </a:solidFill>
          <a:ln>
            <a:noFill/>
          </a:ln>
        </p:spPr>
        <p:txBody>
          <a:bodyPr spcFirstLastPara="1" wrap="square" lIns="76188" tIns="76188" rIns="76188" bIns="76188" anchor="ctr" anchorCtr="0">
            <a:noAutofit/>
          </a:bodyPr>
          <a:lstStyle/>
          <a:p>
            <a:r>
              <a:rPr lang="pl-PL" sz="1400" dirty="0">
                <a:solidFill>
                  <a:srgbClr val="1E00B6"/>
                </a:solidFill>
              </a:rPr>
              <a:t>*** Test Cases ***</a:t>
            </a:r>
          </a:p>
          <a:p>
            <a:r>
              <a:rPr lang="pl-PL" sz="1400" dirty="0"/>
              <a:t>Simple for loop</a:t>
            </a:r>
          </a:p>
          <a:p>
            <a:r>
              <a:rPr lang="pl-PL" sz="1400" dirty="0"/>
              <a:t>   FOR     ${animal}     IN     cat     dog</a:t>
            </a:r>
          </a:p>
          <a:p>
            <a:r>
              <a:rPr lang="pl-PL" sz="1400" dirty="0"/>
              <a:t>         Log      ${animal}</a:t>
            </a:r>
          </a:p>
          <a:p>
            <a:r>
              <a:rPr lang="pl-PL" sz="1400" dirty="0"/>
              <a:t>   END</a:t>
            </a:r>
          </a:p>
          <a:p>
            <a:endParaRPr lang="pl-PL" sz="1400" dirty="0"/>
          </a:p>
          <a:p>
            <a:r>
              <a:rPr lang="pl-PL" sz="1400" dirty="0"/>
              <a:t>Dictionary iteration and if break</a:t>
            </a:r>
          </a:p>
          <a:p>
            <a:r>
              <a:rPr lang="pl-PL" sz="1400" dirty="0"/>
              <a:t>   FOR     ${key}     ${value}     IN     &amp;{DICT}</a:t>
            </a:r>
          </a:p>
          <a:p>
            <a:r>
              <a:rPr lang="pl-PL" sz="1400" dirty="0"/>
              <a:t>         Log   Key is ’${key}’ and value is ’${value}’</a:t>
            </a:r>
          </a:p>
          <a:p>
            <a:r>
              <a:rPr lang="pl-PL" sz="1400" dirty="0"/>
              <a:t>         IF     ’${key}’ == ’two’     BREAK</a:t>
            </a:r>
          </a:p>
          <a:p>
            <a:r>
              <a:rPr lang="pl-PL" sz="1400" dirty="0"/>
              <a:t>   END</a:t>
            </a:r>
          </a:p>
          <a:p>
            <a:r>
              <a:rPr lang="pl-PL" sz="1400" dirty="0"/>
              <a:t> </a:t>
            </a:r>
          </a:p>
          <a:p>
            <a:r>
              <a:rPr lang="pl-PL" sz="1400" dirty="0"/>
              <a:t>Basic while </a:t>
            </a:r>
          </a:p>
          <a:p>
            <a:r>
              <a:rPr lang="pl-PL" sz="1400" dirty="0"/>
              <a:t>   VAR     ${rc}     1</a:t>
            </a:r>
          </a:p>
          <a:p>
            <a:r>
              <a:rPr lang="pl-PL" sz="1400" dirty="0"/>
              <a:t>   WHILE     ${rc} != 0</a:t>
            </a:r>
          </a:p>
          <a:p>
            <a:r>
              <a:rPr lang="pl-PL" sz="1400" dirty="0"/>
              <a:t>        Log     Hello from while loop</a:t>
            </a:r>
          </a:p>
          <a:p>
            <a:r>
              <a:rPr lang="pl-PL" sz="1400" dirty="0"/>
              <a:t>   END</a:t>
            </a:r>
          </a:p>
          <a:p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6215611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821A57F9-38EC-C6FC-2086-35D613A4A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>
            <a:extLst>
              <a:ext uri="{FF2B5EF4-FFF2-40B4-BE49-F238E27FC236}">
                <a16:creationId xmlns:a16="http://schemas.microsoft.com/office/drawing/2014/main" id="{AB24BE3F-0688-8E7E-4F6A-21F5367CECEC}"/>
              </a:ext>
            </a:extLst>
          </p:cNvPr>
          <p:cNvSpPr/>
          <p:nvPr/>
        </p:nvSpPr>
        <p:spPr>
          <a:xfrm>
            <a:off x="640854" y="2343606"/>
            <a:ext cx="10658780" cy="17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just"/>
            <a:r>
              <a:rPr lang="pl-PL" sz="2400" dirty="0"/>
              <a:t>Are imported using </a:t>
            </a:r>
            <a:r>
              <a:rPr lang="pl-PL" sz="2400" dirty="0">
                <a:solidFill>
                  <a:srgbClr val="1E00B6"/>
                </a:solidFill>
              </a:rPr>
              <a:t>Resource</a:t>
            </a:r>
            <a:r>
              <a:rPr lang="pl-PL" sz="2400" i="1" dirty="0"/>
              <a:t> </a:t>
            </a:r>
            <a:r>
              <a:rPr lang="pl-PL" sz="2400" dirty="0"/>
              <a:t>setting in the </a:t>
            </a:r>
            <a:r>
              <a:rPr lang="pl-PL" sz="2400" dirty="0">
                <a:solidFill>
                  <a:schemeClr val="tx2"/>
                </a:solidFill>
              </a:rPr>
              <a:t>Settings</a:t>
            </a:r>
            <a:r>
              <a:rPr lang="pl-PL" sz="2400" dirty="0"/>
              <a:t> section. Recommended extension for resource file is </a:t>
            </a:r>
            <a:r>
              <a:rPr lang="pl-PL" sz="2400" dirty="0">
                <a:solidFill>
                  <a:schemeClr val="tx2"/>
                </a:solidFill>
              </a:rPr>
              <a:t>.resource </a:t>
            </a:r>
          </a:p>
          <a:p>
            <a:pPr algn="just"/>
            <a:endParaRPr lang="pl-PL" sz="2400" i="1" dirty="0"/>
          </a:p>
          <a:p>
            <a:pPr algn="just"/>
            <a:r>
              <a:rPr lang="pl-PL" sz="2400" dirty="0"/>
              <a:t>Structure of resource file is the same as that of suite files, but they cannot contain tests or tasks. Also </a:t>
            </a:r>
            <a:r>
              <a:rPr lang="pl-PL" sz="2400" dirty="0">
                <a:solidFill>
                  <a:schemeClr val="tx2"/>
                </a:solidFill>
              </a:rPr>
              <a:t>Settings</a:t>
            </a:r>
            <a:r>
              <a:rPr lang="pl-PL" sz="2400" i="1" dirty="0"/>
              <a:t> </a:t>
            </a:r>
            <a:r>
              <a:rPr lang="pl-PL" sz="2400" dirty="0"/>
              <a:t>section options are limited. </a:t>
            </a:r>
            <a:r>
              <a:rPr lang="pl-PL" sz="2400" dirty="0">
                <a:solidFill>
                  <a:schemeClr val="tx2"/>
                </a:solidFill>
              </a:rPr>
              <a:t>Variables</a:t>
            </a:r>
            <a:r>
              <a:rPr lang="pl-PL" sz="2400" dirty="0"/>
              <a:t> section and </a:t>
            </a:r>
            <a:r>
              <a:rPr lang="pl-PL" sz="2400" dirty="0">
                <a:solidFill>
                  <a:schemeClr val="tx2"/>
                </a:solidFill>
              </a:rPr>
              <a:t>Keyword</a:t>
            </a:r>
            <a:r>
              <a:rPr lang="pl-PL" sz="2400" dirty="0"/>
              <a:t> section are used exactly the same way as in suite files.</a:t>
            </a:r>
            <a:endParaRPr lang="en-US" sz="2400" dirty="0"/>
          </a:p>
          <a:p>
            <a:endParaRPr lang="en-GB" sz="2400" dirty="0"/>
          </a:p>
        </p:txBody>
      </p:sp>
      <p:sp>
        <p:nvSpPr>
          <p:cNvPr id="108" name="Google Shape;108;p18">
            <a:extLst>
              <a:ext uri="{FF2B5EF4-FFF2-40B4-BE49-F238E27FC236}">
                <a16:creationId xmlns:a16="http://schemas.microsoft.com/office/drawing/2014/main" id="{01A7BAE4-DD4F-7345-9D86-A541EC50D0BA}"/>
              </a:ext>
            </a:extLst>
          </p:cNvPr>
          <p:cNvSpPr/>
          <p:nvPr/>
        </p:nvSpPr>
        <p:spPr>
          <a:xfrm>
            <a:off x="640854" y="728324"/>
            <a:ext cx="4349000" cy="5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4390"/>
              </a:lnSpc>
              <a:buClr>
                <a:srgbClr val="1E00B6"/>
              </a:buClr>
              <a:buSzPts val="4100"/>
            </a:pPr>
            <a:r>
              <a:rPr lang="pl" sz="3417" b="1" dirty="0">
                <a:solidFill>
                  <a:srgbClr val="1E00B6"/>
                </a:solidFill>
                <a:latin typeface="Roboto Mono"/>
                <a:ea typeface="Roboto Mono"/>
                <a:cs typeface="Roboto Mono"/>
                <a:sym typeface="Roboto Mono"/>
              </a:rPr>
              <a:t>RESOURCE FILES</a:t>
            </a:r>
            <a:endParaRPr sz="3417" dirty="0"/>
          </a:p>
        </p:txBody>
      </p:sp>
      <p:sp>
        <p:nvSpPr>
          <p:cNvPr id="109" name="Google Shape;109;p18">
            <a:extLst>
              <a:ext uri="{FF2B5EF4-FFF2-40B4-BE49-F238E27FC236}">
                <a16:creationId xmlns:a16="http://schemas.microsoft.com/office/drawing/2014/main" id="{7B0713C9-F471-B517-92A5-61E72C19B672}"/>
              </a:ext>
            </a:extLst>
          </p:cNvPr>
          <p:cNvSpPr/>
          <p:nvPr/>
        </p:nvSpPr>
        <p:spPr>
          <a:xfrm>
            <a:off x="640854" y="5761732"/>
            <a:ext cx="10910250" cy="13750"/>
          </a:xfrm>
          <a:prstGeom prst="rect">
            <a:avLst/>
          </a:prstGeom>
          <a:solidFill>
            <a:srgbClr val="1C1C18">
              <a:alpha val="50200"/>
            </a:srgbClr>
          </a:solidFill>
          <a:ln>
            <a:noFill/>
          </a:ln>
        </p:spPr>
        <p:txBody>
          <a:bodyPr spcFirstLastPara="1" wrap="square" lIns="76188" tIns="76188" rIns="76188" bIns="76188" anchor="ctr" anchorCtr="0">
            <a:noAutofit/>
          </a:bodyPr>
          <a:lstStyle/>
          <a:p>
            <a:endParaRPr sz="1500"/>
          </a:p>
        </p:txBody>
      </p:sp>
      <p:sp>
        <p:nvSpPr>
          <p:cNvPr id="110" name="Google Shape;110;p18">
            <a:extLst>
              <a:ext uri="{FF2B5EF4-FFF2-40B4-BE49-F238E27FC236}">
                <a16:creationId xmlns:a16="http://schemas.microsoft.com/office/drawing/2014/main" id="{4FF6D615-E80C-46E7-25FE-FE55309DEEF7}"/>
              </a:ext>
            </a:extLst>
          </p:cNvPr>
          <p:cNvSpPr/>
          <p:nvPr/>
        </p:nvSpPr>
        <p:spPr>
          <a:xfrm>
            <a:off x="640854" y="6020693"/>
            <a:ext cx="10910250" cy="2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8823"/>
              </a:lnSpc>
              <a:buClr>
                <a:srgbClr val="8A8A85"/>
              </a:buClr>
              <a:buSzPts val="1700"/>
            </a:pPr>
            <a:r>
              <a:rPr lang="pl" sz="1417" dirty="0">
                <a:solidFill>
                  <a:srgbClr val="8A8A85"/>
                </a:solidFill>
                <a:latin typeface="Inter"/>
                <a:ea typeface="Inter"/>
                <a:cs typeface="Inter"/>
                <a:sym typeface="Inter"/>
              </a:rPr>
              <a:t>Igor Czyrski – Nice Project</a:t>
            </a:r>
            <a:endParaRPr sz="1417" dirty="0"/>
          </a:p>
        </p:txBody>
      </p:sp>
    </p:spTree>
    <p:extLst>
      <p:ext uri="{BB962C8B-B14F-4D97-AF65-F5344CB8AC3E}">
        <p14:creationId xmlns:p14="http://schemas.microsoft.com/office/powerpoint/2010/main" val="34399067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75FD9E4E-A7C3-1609-25D4-8029AF091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>
            <a:extLst>
              <a:ext uri="{FF2B5EF4-FFF2-40B4-BE49-F238E27FC236}">
                <a16:creationId xmlns:a16="http://schemas.microsoft.com/office/drawing/2014/main" id="{54AD9D45-A5F4-BA73-A8EC-234877824A6D}"/>
              </a:ext>
            </a:extLst>
          </p:cNvPr>
          <p:cNvSpPr/>
          <p:nvPr/>
        </p:nvSpPr>
        <p:spPr>
          <a:xfrm>
            <a:off x="640854" y="2685140"/>
            <a:ext cx="4349000" cy="5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4390"/>
              </a:lnSpc>
              <a:buClr>
                <a:srgbClr val="1E00B6"/>
              </a:buClr>
              <a:buSzPts val="4100"/>
            </a:pPr>
            <a:r>
              <a:rPr lang="pl" sz="3417" b="1" dirty="0">
                <a:solidFill>
                  <a:srgbClr val="1E00B6"/>
                </a:solidFill>
                <a:latin typeface="Roboto Mono"/>
                <a:ea typeface="Roboto Mono"/>
                <a:cs typeface="Roboto Mono"/>
                <a:sym typeface="Roboto Mono"/>
              </a:rPr>
              <a:t>THANKS!</a:t>
            </a:r>
            <a:br>
              <a:rPr lang="pl" sz="3417" b="1" dirty="0">
                <a:solidFill>
                  <a:srgbClr val="1E00B6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pl" sz="3417" b="1" dirty="0">
                <a:solidFill>
                  <a:srgbClr val="1E00B6"/>
                </a:solidFill>
                <a:latin typeface="Roboto Mono"/>
                <a:ea typeface="Roboto Mono"/>
                <a:cs typeface="Roboto Mono"/>
                <a:sym typeface="Roboto Mono"/>
              </a:rPr>
              <a:t>QUESTION?</a:t>
            </a:r>
            <a:endParaRPr sz="3417" dirty="0"/>
          </a:p>
        </p:txBody>
      </p:sp>
      <p:sp>
        <p:nvSpPr>
          <p:cNvPr id="109" name="Google Shape;109;p18">
            <a:extLst>
              <a:ext uri="{FF2B5EF4-FFF2-40B4-BE49-F238E27FC236}">
                <a16:creationId xmlns:a16="http://schemas.microsoft.com/office/drawing/2014/main" id="{E8851434-A2BB-257C-0C30-E412745555A2}"/>
              </a:ext>
            </a:extLst>
          </p:cNvPr>
          <p:cNvSpPr/>
          <p:nvPr/>
        </p:nvSpPr>
        <p:spPr>
          <a:xfrm>
            <a:off x="640854" y="5761732"/>
            <a:ext cx="10910250" cy="13750"/>
          </a:xfrm>
          <a:prstGeom prst="rect">
            <a:avLst/>
          </a:prstGeom>
          <a:solidFill>
            <a:srgbClr val="1C1C18">
              <a:alpha val="50200"/>
            </a:srgbClr>
          </a:solidFill>
          <a:ln>
            <a:noFill/>
          </a:ln>
        </p:spPr>
        <p:txBody>
          <a:bodyPr spcFirstLastPara="1" wrap="square" lIns="76188" tIns="76188" rIns="76188" bIns="76188" anchor="ctr" anchorCtr="0">
            <a:noAutofit/>
          </a:bodyPr>
          <a:lstStyle/>
          <a:p>
            <a:endParaRPr sz="1500"/>
          </a:p>
        </p:txBody>
      </p:sp>
      <p:sp>
        <p:nvSpPr>
          <p:cNvPr id="110" name="Google Shape;110;p18">
            <a:extLst>
              <a:ext uri="{FF2B5EF4-FFF2-40B4-BE49-F238E27FC236}">
                <a16:creationId xmlns:a16="http://schemas.microsoft.com/office/drawing/2014/main" id="{69EBB827-8A85-6AC1-BBF8-9190B2B46B1E}"/>
              </a:ext>
            </a:extLst>
          </p:cNvPr>
          <p:cNvSpPr/>
          <p:nvPr/>
        </p:nvSpPr>
        <p:spPr>
          <a:xfrm>
            <a:off x="640854" y="6020693"/>
            <a:ext cx="10910250" cy="2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8823"/>
              </a:lnSpc>
              <a:buClr>
                <a:srgbClr val="8A8A85"/>
              </a:buClr>
              <a:buSzPts val="1700"/>
            </a:pPr>
            <a:r>
              <a:rPr lang="pl" sz="1417" dirty="0">
                <a:solidFill>
                  <a:srgbClr val="8A8A85"/>
                </a:solidFill>
                <a:latin typeface="Inter"/>
                <a:ea typeface="Inter"/>
                <a:cs typeface="Inter"/>
                <a:sym typeface="Inter"/>
              </a:rPr>
              <a:t>Igor Czyrski – Nice Project</a:t>
            </a:r>
            <a:endParaRPr sz="1417" dirty="0"/>
          </a:p>
        </p:txBody>
      </p:sp>
    </p:spTree>
    <p:extLst>
      <p:ext uri="{BB962C8B-B14F-4D97-AF65-F5344CB8AC3E}">
        <p14:creationId xmlns:p14="http://schemas.microsoft.com/office/powerpoint/2010/main" val="2375310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1441</Words>
  <Application>Microsoft Office PowerPoint</Application>
  <PresentationFormat>Widescreen</PresentationFormat>
  <Paragraphs>277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Aptos</vt:lpstr>
      <vt:lpstr>Aptos Display</vt:lpstr>
      <vt:lpstr>Arial</vt:lpstr>
      <vt:lpstr>Consolas</vt:lpstr>
      <vt:lpstr>Courier Code</vt:lpstr>
      <vt:lpstr>Inter</vt:lpstr>
      <vt:lpstr>Roboto Mono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Igor Czyrski</dc:creator>
  <cp:lastModifiedBy>Igor Czyrski</cp:lastModifiedBy>
  <cp:revision>1</cp:revision>
  <dcterms:created xsi:type="dcterms:W3CDTF">2026-10-06T10:56:55Z</dcterms:created>
  <dcterms:modified xsi:type="dcterms:W3CDTF">2026-10-06T11:32:42Z</dcterms:modified>
</cp:coreProperties>
</file>